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6" r:id="rId5"/>
    <p:sldId id="260" r:id="rId6"/>
    <p:sldId id="269" r:id="rId7"/>
    <p:sldId id="261" r:id="rId8"/>
    <p:sldId id="271" r:id="rId9"/>
    <p:sldId id="273" r:id="rId10"/>
    <p:sldId id="272" r:id="rId11"/>
    <p:sldId id="274" r:id="rId12"/>
    <p:sldId id="275" r:id="rId13"/>
    <p:sldId id="265" r:id="rId14"/>
    <p:sldId id="270" r:id="rId15"/>
    <p:sldId id="262" r:id="rId16"/>
    <p:sldId id="268" r:id="rId17"/>
    <p:sldId id="267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7"/>
    <p:restoredTop sz="94704"/>
  </p:normalViewPr>
  <p:slideViewPr>
    <p:cSldViewPr snapToGrid="0">
      <p:cViewPr varScale="1">
        <p:scale>
          <a:sx n="111" d="100"/>
          <a:sy n="111" d="100"/>
        </p:scale>
        <p:origin x="24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86583-0A67-874C-949F-2DE057C92CBA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5A259-5789-D640-841C-D90BC2773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40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Logging into RC</a:t>
            </a:r>
            <a:br>
              <a:rPr lang="en-US" dirty="0"/>
            </a:br>
            <a:r>
              <a:rPr lang="en-US" dirty="0"/>
              <a:t>Show where software and databases live - Note </a:t>
            </a:r>
            <a:r>
              <a:rPr lang="en-US" dirty="0" err="1"/>
              <a:t>ohmc_collab</a:t>
            </a:r>
            <a:r>
              <a:rPr lang="en-US" dirty="0"/>
              <a:t> access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Show example on how to load DRAM2 environment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Describe where analysis files are going by default (how to change this)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5A259-5789-D640-841C-D90BC27735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97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Show example batch script for submission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Describe DRAM2 input, output, and flags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Describe batch script flags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Microbiome center allocation resources vs open queue vs other allocation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5A259-5789-D640-841C-D90BC27735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87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Nextflow</a:t>
            </a:r>
            <a:r>
              <a:rPr lang="en-US" dirty="0"/>
              <a:t> starts jobs automatically for you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Show how you can see details of what is going on for each process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Discuss </a:t>
            </a:r>
            <a:r>
              <a:rPr lang="en-US" dirty="0" err="1"/>
              <a:t>walltime</a:t>
            </a:r>
            <a:r>
              <a:rPr lang="en-US" dirty="0"/>
              <a:t> expectations</a:t>
            </a:r>
            <a:br>
              <a:rPr lang="en-US" dirty="0"/>
            </a:br>
            <a:r>
              <a:rPr lang="en-US" dirty="0"/>
              <a:t>What happens if it gets interrupted -&gt; restart it from where it left off (new to DRAM2)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Show example output of folders/files on terminal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5A259-5789-D640-841C-D90BC27735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43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0AC6-2681-A5E4-1C38-8607C8F78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DAC06-F2E4-7AA8-FB75-F058DF01A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FBD85-38AE-4741-7E54-FC7096A84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B88F6-74D5-AA4B-BD5A-52D21C594B5A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1079B-A7D7-3F93-29F4-087B27E75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5F7BE-F1EB-F38C-4C3D-06067A51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F7E2-D248-AC4F-BD6D-267670AB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09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7C450-F2B3-56A8-AF52-86C87D0D9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D5AE6-4284-363C-3485-FBB7961EB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8B3D6-CF63-D48E-655C-9659A21D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B88F6-74D5-AA4B-BD5A-52D21C594B5A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FF5D1-A495-B1BC-E22E-A888994EC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0AA78-0DF5-A38E-2824-0B08DD9DF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F7E2-D248-AC4F-BD6D-267670AB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23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2560F-1833-9BFB-3E7F-00ACED82B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88337-B24A-F97D-F391-B845736BC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B97CF-3AAE-108E-4756-6C93A4E5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B88F6-74D5-AA4B-BD5A-52D21C594B5A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E36F8-1F4E-BF59-DF41-36501EBF5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CA41E-EC76-4C4A-72C9-DFE37709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F7E2-D248-AC4F-BD6D-267670AB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26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B93F0-195A-3DCD-1A73-326F38E6A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2D602-61CB-84E2-21BC-762FC8610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D02CF-944B-11D8-8837-17C65C2AE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BDA86-27A3-4D0B-81BE-404464506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B88F6-74D5-AA4B-BD5A-52D21C594B5A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AC45C-AC01-3767-95A2-4F85C58CE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7D7BE-7A6A-4BF7-261B-89A20071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F7E2-D248-AC4F-BD6D-267670AB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80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6155E-48FE-BA40-FD66-44BCC442A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E4F2A-44F5-74D3-657D-BA36F8556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382AC-48B6-51B8-BA4C-100AACFA1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C46E4-B92A-1AC2-74BA-EE57D2B502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E37013-91BF-1962-CF9F-5F603C2EA7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BCF92B-3591-400A-0BB9-FB8C04331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B88F6-74D5-AA4B-BD5A-52D21C594B5A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EFDC19-AA50-1723-4D13-0C35AD291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76F198-A130-F255-DF73-A197D65D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F7E2-D248-AC4F-BD6D-267670AB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70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2FC99-DD37-8316-324D-1D262A031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589FD9-7904-6A77-02D3-D99864321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B88F6-74D5-AA4B-BD5A-52D21C594B5A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356017-7234-0835-266D-04F7AF535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C1392-6E83-9991-65D6-E030294B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F7E2-D248-AC4F-BD6D-267670AB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80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10D63-D486-CE2B-513A-8B717EE4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B88F6-74D5-AA4B-BD5A-52D21C594B5A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CF4C24-42A6-64AE-E2BB-DD9D60422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078C2-1FF3-B50D-8623-C9956475A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F7E2-D248-AC4F-BD6D-267670AB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0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9BA01-A77B-39C7-EF11-D5536341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E60E6-93AE-956C-780D-B1729E792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92FD6-7EE0-07C0-E864-1C1F61E8B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6A300-1CC0-35F7-E579-4E52DE36D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B88F6-74D5-AA4B-BD5A-52D21C594B5A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93AF0-FF86-AC46-9A68-7E19D199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3EC14-BB03-22BF-D830-E065082F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F7E2-D248-AC4F-BD6D-267670AB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2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5D59-8A72-5000-D003-18EB41E0B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B39183-10C2-1094-0DE7-CA52A3C16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411F9-BD6D-29F1-14FA-0C1968D20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88C36-312A-75BE-233C-F25070120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B88F6-74D5-AA4B-BD5A-52D21C594B5A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F15CC-2AC0-0667-BEBB-8070228F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666A7-FCE0-B426-EF17-BB0D780D6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F7E2-D248-AC4F-BD6D-267670AB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3A9A8-D865-A07C-9658-3B47187AC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83FC7-B0F9-F41D-EDE7-A983CC942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DBD11-0AE8-2049-A447-88D08C63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B88F6-74D5-AA4B-BD5A-52D21C594B5A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13273-322C-7E3E-135E-05A898694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962CD-9305-EB8A-9B00-28D139A6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F7E2-D248-AC4F-BD6D-267670AB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34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EADB2E-4F6F-CBE9-8468-F4EE08A78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F8830-F8B5-165A-8987-0FBB305F3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E3D5F-6321-2AC5-E2F1-8A527B47C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B88F6-74D5-AA4B-BD5A-52D21C594B5A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E4796-A645-0EA2-DC69-798E7E4F1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9E7A4-37C3-D8A7-D1BA-7CC62B4E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F7E2-D248-AC4F-BD6D-267670AB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3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57179-31EB-6953-61FD-B0A15D00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45997-EC1E-349C-C648-7F2506961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D48CD-311B-9065-8D4F-5664CC1F0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DB88F6-74D5-AA4B-BD5A-52D21C594B5A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C2DC4-2123-4893-D6DC-246259C34F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04C68-1BEF-2F8E-5946-1BC40EFC8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CF7E2-D248-AC4F-BD6D-267670AB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29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252D5BE8-A809-491B-9E33-ABE68C807E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59" t="9819" r="12209" b="9502"/>
          <a:stretch>
            <a:fillRect/>
          </a:stretch>
        </p:blipFill>
        <p:spPr>
          <a:xfrm>
            <a:off x="6599895" y="1875321"/>
            <a:ext cx="5044236" cy="47549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455E2D-4EA1-4EA5-A8F2-A0EA31C0B97F}"/>
              </a:ext>
            </a:extLst>
          </p:cNvPr>
          <p:cNvSpPr txBox="1"/>
          <p:nvPr/>
        </p:nvSpPr>
        <p:spPr>
          <a:xfrm>
            <a:off x="1263497" y="227724"/>
            <a:ext cx="96650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Using DRAM2 to annotate genes and metabolisms of genomes &amp; MAGs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77B02-6BFA-2FAB-9930-D1564D6075DB}"/>
              </a:ext>
            </a:extLst>
          </p:cNvPr>
          <p:cNvSpPr txBox="1"/>
          <p:nvPr/>
        </p:nvSpPr>
        <p:spPr>
          <a:xfrm>
            <a:off x="630149" y="2959871"/>
            <a:ext cx="535133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SP2026 DAWG Workshop #3</a:t>
            </a:r>
            <a:br>
              <a:rPr lang="en-US" dirty="0"/>
            </a:br>
            <a:r>
              <a:rPr lang="en-US" sz="2800" dirty="0"/>
              <a:t>Ryan Trexler</a:t>
            </a:r>
            <a:br>
              <a:rPr lang="en-US" sz="2400" dirty="0"/>
            </a:br>
            <a:br>
              <a:rPr lang="en-US" dirty="0"/>
            </a:br>
            <a:r>
              <a:rPr lang="en-US" sz="1600" dirty="0"/>
              <a:t>PhD candidate in Ecology and Biogeochemistry</a:t>
            </a:r>
          </a:p>
          <a:p>
            <a:r>
              <a:rPr lang="en-US" sz="1600" dirty="0" err="1"/>
              <a:t>Couradeau</a:t>
            </a:r>
            <a:r>
              <a:rPr lang="en-US" sz="1600" dirty="0"/>
              <a:t> and Kaye labs</a:t>
            </a:r>
          </a:p>
          <a:p>
            <a:br>
              <a:rPr lang="en-US" sz="1400" dirty="0"/>
            </a:br>
            <a:r>
              <a:rPr lang="en-US" sz="1400" dirty="0"/>
              <a:t>rxt92@psu.edu</a:t>
            </a:r>
          </a:p>
        </p:txBody>
      </p:sp>
    </p:spTree>
    <p:extLst>
      <p:ext uri="{BB962C8B-B14F-4D97-AF65-F5344CB8AC3E}">
        <p14:creationId xmlns:p14="http://schemas.microsoft.com/office/powerpoint/2010/main" val="3910055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64C9-4534-C6A9-015B-2E45EDC3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1E02A4-DEF0-0FAA-353C-9678EE85537C}"/>
              </a:ext>
            </a:extLst>
          </p:cNvPr>
          <p:cNvSpPr txBox="1"/>
          <p:nvPr/>
        </p:nvSpPr>
        <p:spPr>
          <a:xfrm>
            <a:off x="497879" y="227724"/>
            <a:ext cx="41837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Goals for this workshop: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94309-E344-4F98-E9E3-ADA3B4BB273C}"/>
              </a:ext>
            </a:extLst>
          </p:cNvPr>
          <p:cNvSpPr txBox="1"/>
          <p:nvPr/>
        </p:nvSpPr>
        <p:spPr>
          <a:xfrm>
            <a:off x="3721542" y="2105842"/>
            <a:ext cx="555222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800" dirty="0"/>
              <a:t>What is DRAM/DRAM2?</a:t>
            </a:r>
          </a:p>
          <a:p>
            <a:pPr marL="342900" indent="-342900">
              <a:buAutoNum type="arabicParenR"/>
            </a:pPr>
            <a:endParaRPr lang="en-US" sz="2800" dirty="0"/>
          </a:p>
          <a:p>
            <a:pPr marL="342900" indent="-342900">
              <a:buAutoNum type="arabicParenR"/>
            </a:pPr>
            <a:r>
              <a:rPr lang="en-US" sz="2800" dirty="0"/>
              <a:t>How does DRAM work?</a:t>
            </a:r>
          </a:p>
          <a:p>
            <a:pPr marL="342900" indent="-342900">
              <a:buAutoNum type="arabicParenR"/>
            </a:pPr>
            <a:endParaRPr lang="en-US" sz="2800" dirty="0"/>
          </a:p>
          <a:p>
            <a:pPr marL="342900" indent="-342900">
              <a:buAutoNum type="arabicParenR"/>
            </a:pPr>
            <a:r>
              <a:rPr lang="en-US" sz="2800" dirty="0"/>
              <a:t>What’s new in DRAM2?</a:t>
            </a:r>
          </a:p>
          <a:p>
            <a:pPr marL="342900" indent="-342900">
              <a:buAutoNum type="arabicParenR"/>
            </a:pPr>
            <a:endParaRPr lang="en-US" sz="2800" dirty="0"/>
          </a:p>
          <a:p>
            <a:pPr marL="342900" indent="-342900">
              <a:buAutoNum type="arabicParenR"/>
            </a:pPr>
            <a:r>
              <a:rPr lang="en-US" sz="2800" dirty="0"/>
              <a:t>How can we use DRAM2 at PSU?</a:t>
            </a:r>
          </a:p>
        </p:txBody>
      </p:sp>
    </p:spTree>
    <p:extLst>
      <p:ext uri="{BB962C8B-B14F-4D97-AF65-F5344CB8AC3E}">
        <p14:creationId xmlns:p14="http://schemas.microsoft.com/office/powerpoint/2010/main" val="3371632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8E2E8-BF76-D596-E4EE-9D7CB4445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BD2E1A-93FD-66A0-CE30-202B4E46F664}"/>
              </a:ext>
            </a:extLst>
          </p:cNvPr>
          <p:cNvSpPr txBox="1"/>
          <p:nvPr/>
        </p:nvSpPr>
        <p:spPr>
          <a:xfrm>
            <a:off x="497879" y="227724"/>
            <a:ext cx="41933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What is DRAM/DRAM2?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CE7CC7-A55A-BF24-A28D-5AE1CE724832}"/>
              </a:ext>
            </a:extLst>
          </p:cNvPr>
          <p:cNvSpPr txBox="1"/>
          <p:nvPr/>
        </p:nvSpPr>
        <p:spPr>
          <a:xfrm>
            <a:off x="1493301" y="1157633"/>
            <a:ext cx="7459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D</a:t>
            </a:r>
            <a:r>
              <a:rPr lang="en-US" sz="2800" dirty="0"/>
              <a:t>istilled and </a:t>
            </a:r>
            <a:r>
              <a:rPr lang="en-US" sz="2800" b="1" u="sng" dirty="0"/>
              <a:t>R</a:t>
            </a:r>
            <a:r>
              <a:rPr lang="en-US" sz="2800" dirty="0"/>
              <a:t>efined </a:t>
            </a:r>
            <a:r>
              <a:rPr lang="en-US" sz="2800" b="1" u="sng" dirty="0"/>
              <a:t>A</a:t>
            </a:r>
            <a:r>
              <a:rPr lang="en-US" sz="2800" dirty="0"/>
              <a:t>nnotation of </a:t>
            </a:r>
            <a:r>
              <a:rPr lang="en-US" sz="2800" b="1" u="sng" dirty="0"/>
              <a:t>M</a:t>
            </a:r>
            <a:r>
              <a:rPr lang="en-US" sz="2800" dirty="0"/>
              <a:t>etabolism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565813-C5C1-A24D-D82E-0AD91DF7D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675" y="3979191"/>
            <a:ext cx="4224493" cy="1470436"/>
          </a:xfrm>
          <a:prstGeom prst="rect">
            <a:avLst/>
          </a:prstGeom>
        </p:spPr>
      </p:pic>
      <p:pic>
        <p:nvPicPr>
          <p:cNvPr id="7" name="Picture 6" descr="A person smiling at camera&#10;&#10;AI-generated content may be incorrect.">
            <a:extLst>
              <a:ext uri="{FF2B5EF4-FFF2-40B4-BE49-F238E27FC236}">
                <a16:creationId xmlns:a16="http://schemas.microsoft.com/office/drawing/2014/main" id="{3CD99B08-EB95-F884-7102-538E29139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16" y="3979191"/>
            <a:ext cx="1372499" cy="2058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4C9C34-FD90-C144-A147-A39155E8604F}"/>
              </a:ext>
            </a:extLst>
          </p:cNvPr>
          <p:cNvSpPr txBox="1"/>
          <p:nvPr/>
        </p:nvSpPr>
        <p:spPr>
          <a:xfrm>
            <a:off x="524094" y="3535682"/>
            <a:ext cx="1604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Kelly Wrighton</a:t>
            </a:r>
          </a:p>
        </p:txBody>
      </p:sp>
      <p:pic>
        <p:nvPicPr>
          <p:cNvPr id="10" name="Picture 9" descr="A diagram of an ecosystem function&#10;&#10;AI-generated content may be incorrect.">
            <a:extLst>
              <a:ext uri="{FF2B5EF4-FFF2-40B4-BE49-F238E27FC236}">
                <a16:creationId xmlns:a16="http://schemas.microsoft.com/office/drawing/2014/main" id="{63935B80-AB3A-291F-7289-C3A936412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2632" y="3003800"/>
            <a:ext cx="5148047" cy="36841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80D146-A378-D96E-A7DD-68336F4E949A}"/>
              </a:ext>
            </a:extLst>
          </p:cNvPr>
          <p:cNvSpPr txBox="1"/>
          <p:nvPr/>
        </p:nvSpPr>
        <p:spPr>
          <a:xfrm>
            <a:off x="2128636" y="1957606"/>
            <a:ext cx="83464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DRAM is a genome/MAG </a:t>
            </a:r>
            <a:r>
              <a:rPr lang="en-US" sz="2200" b="1" dirty="0"/>
              <a:t>gene annotation</a:t>
            </a:r>
            <a:r>
              <a:rPr lang="en-US" sz="2200" dirty="0"/>
              <a:t> and </a:t>
            </a:r>
            <a:r>
              <a:rPr lang="en-US" sz="2200" b="1" dirty="0"/>
              <a:t>summarization</a:t>
            </a:r>
            <a:r>
              <a:rPr lang="en-US" sz="2200" dirty="0"/>
              <a:t> software focused on </a:t>
            </a:r>
            <a:r>
              <a:rPr lang="en-US" sz="2200" b="1" dirty="0"/>
              <a:t>microbial metabolisms and traits</a:t>
            </a:r>
          </a:p>
        </p:txBody>
      </p:sp>
    </p:spTree>
    <p:extLst>
      <p:ext uri="{BB962C8B-B14F-4D97-AF65-F5344CB8AC3E}">
        <p14:creationId xmlns:p14="http://schemas.microsoft.com/office/powerpoint/2010/main" val="32188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AE215-AFB3-FC37-527D-546293373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2DF4C-D265-3EB4-1FE8-BAF78F2EE837}"/>
              </a:ext>
            </a:extLst>
          </p:cNvPr>
          <p:cNvSpPr txBox="1"/>
          <p:nvPr/>
        </p:nvSpPr>
        <p:spPr>
          <a:xfrm>
            <a:off x="497879" y="227724"/>
            <a:ext cx="41933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What is DRAM/DRAM2?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E952CD-96DC-4498-721E-09FCCB987B3D}"/>
              </a:ext>
            </a:extLst>
          </p:cNvPr>
          <p:cNvSpPr txBox="1"/>
          <p:nvPr/>
        </p:nvSpPr>
        <p:spPr>
          <a:xfrm>
            <a:off x="1493301" y="1157633"/>
            <a:ext cx="7459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D</a:t>
            </a:r>
            <a:r>
              <a:rPr lang="en-US" sz="2800" dirty="0"/>
              <a:t>istilled and </a:t>
            </a:r>
            <a:r>
              <a:rPr lang="en-US" sz="2800" b="1" u="sng" dirty="0"/>
              <a:t>R</a:t>
            </a:r>
            <a:r>
              <a:rPr lang="en-US" sz="2800" dirty="0"/>
              <a:t>efined </a:t>
            </a:r>
            <a:r>
              <a:rPr lang="en-US" sz="2800" b="1" u="sng" dirty="0"/>
              <a:t>A</a:t>
            </a:r>
            <a:r>
              <a:rPr lang="en-US" sz="2800" dirty="0"/>
              <a:t>nnotation of </a:t>
            </a:r>
            <a:r>
              <a:rPr lang="en-US" sz="2800" b="1" u="sng" dirty="0"/>
              <a:t>M</a:t>
            </a:r>
            <a:r>
              <a:rPr lang="en-US" sz="2800" dirty="0"/>
              <a:t>etabolism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8F9DCF-4469-AE19-D1B1-AEE95A4A681B}"/>
              </a:ext>
            </a:extLst>
          </p:cNvPr>
          <p:cNvSpPr txBox="1"/>
          <p:nvPr/>
        </p:nvSpPr>
        <p:spPr>
          <a:xfrm>
            <a:off x="2128636" y="1957606"/>
            <a:ext cx="83464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DRAM is a genome/MAG </a:t>
            </a:r>
            <a:r>
              <a:rPr lang="en-US" sz="2200" b="1" dirty="0"/>
              <a:t>gene annotation</a:t>
            </a:r>
            <a:r>
              <a:rPr lang="en-US" sz="2200" dirty="0"/>
              <a:t> and </a:t>
            </a:r>
            <a:r>
              <a:rPr lang="en-US" sz="2200" b="1" dirty="0"/>
              <a:t>summarization</a:t>
            </a:r>
            <a:r>
              <a:rPr lang="en-US" sz="2200" dirty="0"/>
              <a:t> software focused on </a:t>
            </a:r>
            <a:r>
              <a:rPr lang="en-US" sz="2200" b="1" dirty="0"/>
              <a:t>microbial metabolisms and traits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C11C98-9858-D00A-4B52-1C2C541D76C2}"/>
              </a:ext>
            </a:extLst>
          </p:cNvPr>
          <p:cNvGrpSpPr/>
          <p:nvPr/>
        </p:nvGrpSpPr>
        <p:grpSpPr>
          <a:xfrm>
            <a:off x="7146904" y="3693379"/>
            <a:ext cx="4490146" cy="2414560"/>
            <a:chOff x="6835820" y="3693379"/>
            <a:chExt cx="4490146" cy="241456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4B07049-3F16-7C0F-E93B-516F24879AC5}"/>
                </a:ext>
              </a:extLst>
            </p:cNvPr>
            <p:cNvSpPr txBox="1"/>
            <p:nvPr/>
          </p:nvSpPr>
          <p:spPr>
            <a:xfrm>
              <a:off x="6835820" y="4914553"/>
              <a:ext cx="8324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MAG 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DAA0515-59B4-441B-D4C2-224E9F68473B}"/>
                </a:ext>
              </a:extLst>
            </p:cNvPr>
            <p:cNvSpPr txBox="1"/>
            <p:nvPr/>
          </p:nvSpPr>
          <p:spPr>
            <a:xfrm>
              <a:off x="6835820" y="5326580"/>
              <a:ext cx="8324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MAG 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158BEE-345E-A81B-9992-2B71CF7B481E}"/>
                </a:ext>
              </a:extLst>
            </p:cNvPr>
            <p:cNvSpPr txBox="1"/>
            <p:nvPr/>
          </p:nvSpPr>
          <p:spPr>
            <a:xfrm>
              <a:off x="6835820" y="5738607"/>
              <a:ext cx="8324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MAG 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FD0D66-2331-773F-7162-5F43F68E0D91}"/>
                </a:ext>
              </a:extLst>
            </p:cNvPr>
            <p:cNvSpPr txBox="1"/>
            <p:nvPr/>
          </p:nvSpPr>
          <p:spPr>
            <a:xfrm>
              <a:off x="7668292" y="4402287"/>
              <a:ext cx="15367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Metabolism 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351A872-A399-4B9D-6AE6-0AC2134F6C40}"/>
                </a:ext>
              </a:extLst>
            </p:cNvPr>
            <p:cNvSpPr txBox="1"/>
            <p:nvPr/>
          </p:nvSpPr>
          <p:spPr>
            <a:xfrm>
              <a:off x="9306211" y="4402287"/>
              <a:ext cx="15367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Metabolism 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2F4C2BC-FDA5-303A-BB9F-F29221124D00}"/>
                </a:ext>
              </a:extLst>
            </p:cNvPr>
            <p:cNvSpPr txBox="1"/>
            <p:nvPr/>
          </p:nvSpPr>
          <p:spPr>
            <a:xfrm>
              <a:off x="8133761" y="4914553"/>
              <a:ext cx="527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026DDE8-1BE2-A98D-743D-0947F42647B0}"/>
                </a:ext>
              </a:extLst>
            </p:cNvPr>
            <p:cNvSpPr txBox="1"/>
            <p:nvPr/>
          </p:nvSpPr>
          <p:spPr>
            <a:xfrm>
              <a:off x="9810739" y="4912627"/>
              <a:ext cx="527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76360A7-DEC7-A3E3-51E7-BF8A938444F4}"/>
                </a:ext>
              </a:extLst>
            </p:cNvPr>
            <p:cNvSpPr txBox="1"/>
            <p:nvPr/>
          </p:nvSpPr>
          <p:spPr>
            <a:xfrm>
              <a:off x="8172820" y="5326580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8C5F98-16B0-33C7-8741-04725117F539}"/>
                </a:ext>
              </a:extLst>
            </p:cNvPr>
            <p:cNvSpPr txBox="1"/>
            <p:nvPr/>
          </p:nvSpPr>
          <p:spPr>
            <a:xfrm>
              <a:off x="9843968" y="5326580"/>
              <a:ext cx="527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E5CFBF-6F5C-1FC3-246C-E31E6191FFAF}"/>
                </a:ext>
              </a:extLst>
            </p:cNvPr>
            <p:cNvSpPr txBox="1"/>
            <p:nvPr/>
          </p:nvSpPr>
          <p:spPr>
            <a:xfrm>
              <a:off x="8190796" y="5738607"/>
              <a:ext cx="527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77C97B7-177A-DDC7-63A8-096DEAF195FE}"/>
                </a:ext>
              </a:extLst>
            </p:cNvPr>
            <p:cNvSpPr txBox="1"/>
            <p:nvPr/>
          </p:nvSpPr>
          <p:spPr>
            <a:xfrm>
              <a:off x="9843968" y="5738607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752222D-C6B5-7646-6D48-B15683FC67FD}"/>
                </a:ext>
              </a:extLst>
            </p:cNvPr>
            <p:cNvSpPr txBox="1"/>
            <p:nvPr/>
          </p:nvSpPr>
          <p:spPr>
            <a:xfrm>
              <a:off x="10944130" y="4331189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D7CCB8-D409-C39B-A589-E3F616D4F3AD}"/>
                </a:ext>
              </a:extLst>
            </p:cNvPr>
            <p:cNvSpPr txBox="1"/>
            <p:nvPr/>
          </p:nvSpPr>
          <p:spPr>
            <a:xfrm>
              <a:off x="10944130" y="4857713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03D2AA6-02BB-6638-6B68-09B4B76CB896}"/>
                </a:ext>
              </a:extLst>
            </p:cNvPr>
            <p:cNvSpPr txBox="1"/>
            <p:nvPr/>
          </p:nvSpPr>
          <p:spPr>
            <a:xfrm>
              <a:off x="10944130" y="5281959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9F25166-46DC-AE37-CAF8-56A1AB059CFD}"/>
                </a:ext>
              </a:extLst>
            </p:cNvPr>
            <p:cNvSpPr txBox="1"/>
            <p:nvPr/>
          </p:nvSpPr>
          <p:spPr>
            <a:xfrm>
              <a:off x="10944130" y="5702135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F8CF183-F58C-53BE-7288-373704A10FE5}"/>
                </a:ext>
              </a:extLst>
            </p:cNvPr>
            <p:cNvSpPr txBox="1"/>
            <p:nvPr/>
          </p:nvSpPr>
          <p:spPr>
            <a:xfrm>
              <a:off x="7421798" y="3693379"/>
              <a:ext cx="3076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Metabolisms &amp; traits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0D7BE3A-C818-BDFC-A375-4837857305F0}"/>
              </a:ext>
            </a:extLst>
          </p:cNvPr>
          <p:cNvGrpSpPr/>
          <p:nvPr/>
        </p:nvGrpSpPr>
        <p:grpSpPr>
          <a:xfrm>
            <a:off x="396138" y="3700258"/>
            <a:ext cx="3580094" cy="2346169"/>
            <a:chOff x="396138" y="3700258"/>
            <a:chExt cx="3580094" cy="234616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44C41CA-3AB0-116C-4262-8377953E5001}"/>
                </a:ext>
              </a:extLst>
            </p:cNvPr>
            <p:cNvSpPr txBox="1"/>
            <p:nvPr/>
          </p:nvSpPr>
          <p:spPr>
            <a:xfrm>
              <a:off x="396138" y="5128166"/>
              <a:ext cx="1390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Set of MAGs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2FE9B9-5291-A3DB-C072-3222C64716A9}"/>
                </a:ext>
              </a:extLst>
            </p:cNvPr>
            <p:cNvSpPr txBox="1"/>
            <p:nvPr/>
          </p:nvSpPr>
          <p:spPr>
            <a:xfrm>
              <a:off x="2284550" y="4569099"/>
              <a:ext cx="1691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MAG 1 | Gene 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E04CE0C-FF9B-1DB4-D49B-7A72A5EC41F0}"/>
                </a:ext>
              </a:extLst>
            </p:cNvPr>
            <p:cNvSpPr txBox="1"/>
            <p:nvPr/>
          </p:nvSpPr>
          <p:spPr>
            <a:xfrm>
              <a:off x="2284550" y="4938431"/>
              <a:ext cx="1691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MAG 1 | Gene 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662A5E5-484A-9042-0E40-DAD692A7B157}"/>
                </a:ext>
              </a:extLst>
            </p:cNvPr>
            <p:cNvSpPr txBox="1"/>
            <p:nvPr/>
          </p:nvSpPr>
          <p:spPr>
            <a:xfrm>
              <a:off x="2284550" y="5677095"/>
              <a:ext cx="1645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MAG x | Gene x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226AE4A-C350-B575-6464-0CE5AF4CA8E6}"/>
                </a:ext>
              </a:extLst>
            </p:cNvPr>
            <p:cNvSpPr txBox="1"/>
            <p:nvPr/>
          </p:nvSpPr>
          <p:spPr>
            <a:xfrm>
              <a:off x="2559800" y="3700258"/>
              <a:ext cx="1085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Genes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D53CAF-D906-0143-CB9A-26A5BD796763}"/>
                </a:ext>
              </a:extLst>
            </p:cNvPr>
            <p:cNvSpPr txBox="1"/>
            <p:nvPr/>
          </p:nvSpPr>
          <p:spPr>
            <a:xfrm>
              <a:off x="2939473" y="5291340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41" name="Left Brace 40">
              <a:extLst>
                <a:ext uri="{FF2B5EF4-FFF2-40B4-BE49-F238E27FC236}">
                  <a16:creationId xmlns:a16="http://schemas.microsoft.com/office/drawing/2014/main" id="{7BECD822-89DC-609A-6D71-BC2DECD9CEC2}"/>
                </a:ext>
              </a:extLst>
            </p:cNvPr>
            <p:cNvSpPr/>
            <p:nvPr/>
          </p:nvSpPr>
          <p:spPr>
            <a:xfrm>
              <a:off x="1834594" y="4666510"/>
              <a:ext cx="377408" cy="1307483"/>
            </a:xfrm>
            <a:prstGeom prst="leftBrace">
              <a:avLst>
                <a:gd name="adj1" fmla="val 72771"/>
                <a:gd name="adj2" fmla="val 50676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AB672BA-1CDF-9511-F85B-8628EAF05F68}"/>
              </a:ext>
            </a:extLst>
          </p:cNvPr>
          <p:cNvGrpSpPr/>
          <p:nvPr/>
        </p:nvGrpSpPr>
        <p:grpSpPr>
          <a:xfrm>
            <a:off x="4797304" y="4321071"/>
            <a:ext cx="1501149" cy="950115"/>
            <a:chOff x="4594851" y="3953425"/>
            <a:chExt cx="1501149" cy="950115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398E16D-4E05-6310-0CB7-8EBEF8D8B788}"/>
                </a:ext>
              </a:extLst>
            </p:cNvPr>
            <p:cNvCxnSpPr>
              <a:cxnSpLocks/>
            </p:cNvCxnSpPr>
            <p:nvPr/>
          </p:nvCxnSpPr>
          <p:spPr>
            <a:xfrm>
              <a:off x="4594851" y="4903540"/>
              <a:ext cx="1501149" cy="0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4" name="Picture 43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770A1444-2EE2-D30E-A237-A8DF98B44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3159" t="9819" r="12209" b="9502"/>
            <a:stretch>
              <a:fillRect/>
            </a:stretch>
          </p:blipFill>
          <p:spPr>
            <a:xfrm>
              <a:off x="4911440" y="3953425"/>
              <a:ext cx="867971" cy="8181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9520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28275-BB00-E2A6-7E29-2A8E2D42D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D8DE99-7102-D7B0-277E-192BAD625C61}"/>
              </a:ext>
            </a:extLst>
          </p:cNvPr>
          <p:cNvSpPr txBox="1"/>
          <p:nvPr/>
        </p:nvSpPr>
        <p:spPr>
          <a:xfrm>
            <a:off x="497879" y="227724"/>
            <a:ext cx="114772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What advantages does DRAM2 offer over other annotation software?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7DAD27-77CE-1F6E-C448-0CC3A3D10143}"/>
              </a:ext>
            </a:extLst>
          </p:cNvPr>
          <p:cNvSpPr txBox="1"/>
          <p:nvPr/>
        </p:nvSpPr>
        <p:spPr>
          <a:xfrm>
            <a:off x="1520132" y="1103756"/>
            <a:ext cx="91517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/>
              <a:t>1.</a:t>
            </a:r>
            <a:r>
              <a:rPr lang="en-US" sz="2200" dirty="0"/>
              <a:t> DRAM/DRAM2 integrates annotations from across a </a:t>
            </a:r>
            <a:r>
              <a:rPr lang="en-US" sz="2200" b="1" dirty="0"/>
              <a:t>suite of databases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E0F1D11-9F0C-47D1-E26F-5C3AD7C64CE6}"/>
              </a:ext>
            </a:extLst>
          </p:cNvPr>
          <p:cNvGrpSpPr/>
          <p:nvPr/>
        </p:nvGrpSpPr>
        <p:grpSpPr>
          <a:xfrm>
            <a:off x="2411426" y="1875298"/>
            <a:ext cx="2806582" cy="4822618"/>
            <a:chOff x="5226147" y="1258852"/>
            <a:chExt cx="3170394" cy="5447765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05F6688D-6202-E703-3B5B-D95D3C4DB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35760" y="2126528"/>
              <a:ext cx="3151685" cy="4209068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B5C3EA-6B5F-3DE2-4C3F-FB072359BC30}"/>
                </a:ext>
              </a:extLst>
            </p:cNvPr>
            <p:cNvSpPr/>
            <p:nvPr/>
          </p:nvSpPr>
          <p:spPr>
            <a:xfrm>
              <a:off x="5226147" y="2455541"/>
              <a:ext cx="480155" cy="1389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BA5797A-6D6C-E753-9C41-EB793A8DE5E1}"/>
                </a:ext>
              </a:extLst>
            </p:cNvPr>
            <p:cNvSpPr/>
            <p:nvPr/>
          </p:nvSpPr>
          <p:spPr>
            <a:xfrm>
              <a:off x="5454432" y="5272504"/>
              <a:ext cx="299591" cy="3563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5CB354B-A47C-FD89-53C0-4548A99011B0}"/>
                </a:ext>
              </a:extLst>
            </p:cNvPr>
            <p:cNvSpPr txBox="1"/>
            <p:nvPr/>
          </p:nvSpPr>
          <p:spPr>
            <a:xfrm>
              <a:off x="5235760" y="1258852"/>
              <a:ext cx="3151685" cy="660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cs typeface="Arial" panose="020B0604020202020204" pitchFamily="34" charset="0"/>
                </a:rPr>
                <a:t>Much </a:t>
              </a:r>
              <a:r>
                <a:rPr lang="en-US" sz="1600" b="1" dirty="0">
                  <a:cs typeface="Arial" panose="020B0604020202020204" pitchFamily="34" charset="0"/>
                </a:rPr>
                <a:t>larger database size</a:t>
              </a:r>
              <a:r>
                <a:rPr lang="en-US" sz="1600" dirty="0">
                  <a:cs typeface="Arial" panose="020B0604020202020204" pitchFamily="34" charset="0"/>
                </a:rPr>
                <a:t> compared to other software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6525FC5-5050-3AFC-2909-84403EE78715}"/>
                </a:ext>
              </a:extLst>
            </p:cNvPr>
            <p:cNvSpPr txBox="1"/>
            <p:nvPr/>
          </p:nvSpPr>
          <p:spPr>
            <a:xfrm>
              <a:off x="5244339" y="6428479"/>
              <a:ext cx="1682592" cy="2781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cs typeface="Arial" panose="020B0604020202020204" pitchFamily="34" charset="0"/>
                </a:rPr>
                <a:t>Shaffer et al 2020. NAR.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AD4EBC-2B13-06F8-B093-3574B30DDD9C}"/>
                </a:ext>
              </a:extLst>
            </p:cNvPr>
            <p:cNvSpPr/>
            <p:nvPr/>
          </p:nvSpPr>
          <p:spPr>
            <a:xfrm>
              <a:off x="5226664" y="2007909"/>
              <a:ext cx="3169877" cy="44250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493B69-9A76-F2BF-A465-7A64D492DFDD}"/>
              </a:ext>
            </a:extLst>
          </p:cNvPr>
          <p:cNvGrpSpPr/>
          <p:nvPr/>
        </p:nvGrpSpPr>
        <p:grpSpPr>
          <a:xfrm>
            <a:off x="6438870" y="1875298"/>
            <a:ext cx="2642624" cy="4835170"/>
            <a:chOff x="8981040" y="1258852"/>
            <a:chExt cx="2985182" cy="5461944"/>
          </a:xfrm>
        </p:grpSpPr>
        <p:pic>
          <p:nvPicPr>
            <p:cNvPr id="12" name="Picture 11" descr="A diagram of a number of different types of energy&#10;&#10;AI-generated content may be incorrect.">
              <a:extLst>
                <a:ext uri="{FF2B5EF4-FFF2-40B4-BE49-F238E27FC236}">
                  <a16:creationId xmlns:a16="http://schemas.microsoft.com/office/drawing/2014/main" id="{E99EA63F-2409-B0A4-2357-85F5A113D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37510" y="2007909"/>
              <a:ext cx="2072243" cy="455786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F93A9EC-484A-8568-6D82-8A5546BA9ED3}"/>
                </a:ext>
              </a:extLst>
            </p:cNvPr>
            <p:cNvSpPr/>
            <p:nvPr/>
          </p:nvSpPr>
          <p:spPr>
            <a:xfrm>
              <a:off x="9438960" y="2037862"/>
              <a:ext cx="299591" cy="5065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07B3CED-7008-37B3-5071-AD91B6353C09}"/>
                </a:ext>
              </a:extLst>
            </p:cNvPr>
            <p:cNvSpPr/>
            <p:nvPr/>
          </p:nvSpPr>
          <p:spPr>
            <a:xfrm>
              <a:off x="9415352" y="3469636"/>
              <a:ext cx="299591" cy="3563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57D576B-D986-73D7-01B0-5881EA6E34FD}"/>
                </a:ext>
              </a:extLst>
            </p:cNvPr>
            <p:cNvSpPr/>
            <p:nvPr/>
          </p:nvSpPr>
          <p:spPr>
            <a:xfrm>
              <a:off x="9473230" y="5013176"/>
              <a:ext cx="299591" cy="3563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3E58426-96F7-7041-9D21-E35FA15078D7}"/>
                </a:ext>
              </a:extLst>
            </p:cNvPr>
            <p:cNvSpPr txBox="1"/>
            <p:nvPr/>
          </p:nvSpPr>
          <p:spPr>
            <a:xfrm>
              <a:off x="8981040" y="1258852"/>
              <a:ext cx="2985182" cy="660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cs typeface="Arial" panose="020B0604020202020204" pitchFamily="34" charset="0"/>
                </a:rPr>
                <a:t>DRAM outperforms</a:t>
              </a:r>
              <a:r>
                <a:rPr lang="en-US" sz="1600" dirty="0">
                  <a:cs typeface="Arial" panose="020B0604020202020204" pitchFamily="34" charset="0"/>
                </a:rPr>
                <a:t> similar annotation software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ABB20A8-1561-F626-B359-914EDB8BCA4D}"/>
                </a:ext>
              </a:extLst>
            </p:cNvPr>
            <p:cNvSpPr txBox="1"/>
            <p:nvPr/>
          </p:nvSpPr>
          <p:spPr>
            <a:xfrm>
              <a:off x="8981040" y="6442658"/>
              <a:ext cx="1682592" cy="2781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cs typeface="Arial" panose="020B0604020202020204" pitchFamily="34" charset="0"/>
                </a:rPr>
                <a:t>Shaffer et al 2020. NAR.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8C29EA9-C1E2-B94F-1DB3-39579A275D6D}"/>
                </a:ext>
              </a:extLst>
            </p:cNvPr>
            <p:cNvSpPr/>
            <p:nvPr/>
          </p:nvSpPr>
          <p:spPr>
            <a:xfrm>
              <a:off x="8981040" y="2003417"/>
              <a:ext cx="2985182" cy="44250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1D1A5C-726A-7DD6-C1DF-9FA4F2C699DC}"/>
              </a:ext>
            </a:extLst>
          </p:cNvPr>
          <p:cNvCxnSpPr>
            <a:cxnSpLocks/>
          </p:cNvCxnSpPr>
          <p:nvPr/>
        </p:nvCxnSpPr>
        <p:spPr>
          <a:xfrm>
            <a:off x="5460646" y="2172364"/>
            <a:ext cx="77585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46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A8F26-662E-466A-0DC7-D1563D25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C1D26D-F60A-CD7B-B9E8-9B833F0175EB}"/>
              </a:ext>
            </a:extLst>
          </p:cNvPr>
          <p:cNvSpPr txBox="1"/>
          <p:nvPr/>
        </p:nvSpPr>
        <p:spPr>
          <a:xfrm>
            <a:off x="497879" y="227724"/>
            <a:ext cx="114772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+mj-lt"/>
              </a:rPr>
              <a:t>What advantages does DRAM2 offer over other annotation software?</a:t>
            </a:r>
            <a:endParaRPr lang="en-US" sz="3200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8933EA-ABE1-4E21-9841-58291073D334}"/>
              </a:ext>
            </a:extLst>
          </p:cNvPr>
          <p:cNvSpPr txBox="1"/>
          <p:nvPr/>
        </p:nvSpPr>
        <p:spPr>
          <a:xfrm>
            <a:off x="2006972" y="1103756"/>
            <a:ext cx="81780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/>
              <a:t>2.</a:t>
            </a:r>
            <a:r>
              <a:rPr lang="en-US" sz="2200" dirty="0"/>
              <a:t> DRAM/DRAM2 automates the summarization of annotation data</a:t>
            </a:r>
            <a:endParaRPr lang="en-US" sz="2200" b="1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14C830D-50E8-2B21-ABCC-B567062E9AE3}"/>
              </a:ext>
            </a:extLst>
          </p:cNvPr>
          <p:cNvGrpSpPr/>
          <p:nvPr/>
        </p:nvGrpSpPr>
        <p:grpSpPr>
          <a:xfrm>
            <a:off x="7444600" y="2549582"/>
            <a:ext cx="4530523" cy="4308418"/>
            <a:chOff x="5342964" y="1623732"/>
            <a:chExt cx="6530451" cy="621030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AB889C3-C1AB-7216-29B9-A4B23F9E2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513"/>
            <a:stretch>
              <a:fillRect/>
            </a:stretch>
          </p:blipFill>
          <p:spPr>
            <a:xfrm>
              <a:off x="5342964" y="1623732"/>
              <a:ext cx="2723779" cy="24638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5912497-D7C5-FDC0-E4DE-6F9C60B3C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25315" y="1623732"/>
              <a:ext cx="3848100" cy="6210300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C943392-AA66-87A2-DC3C-15BB67A75A57}"/>
              </a:ext>
            </a:extLst>
          </p:cNvPr>
          <p:cNvSpPr txBox="1"/>
          <p:nvPr/>
        </p:nvSpPr>
        <p:spPr>
          <a:xfrm>
            <a:off x="96409" y="2044754"/>
            <a:ext cx="6709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Manual sifting through 1000’s of genes to look for functional genes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402F58-F0D3-B79C-5C7E-DAECE9F152E0}"/>
              </a:ext>
            </a:extLst>
          </p:cNvPr>
          <p:cNvSpPr txBox="1"/>
          <p:nvPr/>
        </p:nvSpPr>
        <p:spPr>
          <a:xfrm>
            <a:off x="9761675" y="2041919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OR..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3768630-6A34-C9E5-1EB6-96B84417E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00" y="2537203"/>
            <a:ext cx="5863781" cy="3927352"/>
          </a:xfrm>
          <a:prstGeom prst="rect">
            <a:avLst/>
          </a:prstGeom>
        </p:spPr>
      </p:pic>
      <p:pic>
        <p:nvPicPr>
          <p:cNvPr id="6156" name="Picture 12" descr="Templates - Meme-arsenal ...">
            <a:extLst>
              <a:ext uri="{FF2B5EF4-FFF2-40B4-BE49-F238E27FC236}">
                <a16:creationId xmlns:a16="http://schemas.microsoft.com/office/drawing/2014/main" id="{01AABC58-DCB6-6520-2FDD-B10B34A81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961" y="4249241"/>
            <a:ext cx="1560168" cy="169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unctuation of Life: Question Mark | by ...">
            <a:extLst>
              <a:ext uri="{FF2B5EF4-FFF2-40B4-BE49-F238E27FC236}">
                <a16:creationId xmlns:a16="http://schemas.microsoft.com/office/drawing/2014/main" id="{69DB2DB3-0FF4-9DD3-6C2A-7ED541D29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972" y="3826788"/>
            <a:ext cx="1999050" cy="199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26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AB9D5-2A4E-1642-22BB-D88E480AE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93C303-0B28-9A42-8CAD-14AEEB94D98F}"/>
              </a:ext>
            </a:extLst>
          </p:cNvPr>
          <p:cNvSpPr txBox="1"/>
          <p:nvPr/>
        </p:nvSpPr>
        <p:spPr>
          <a:xfrm>
            <a:off x="497879" y="227724"/>
            <a:ext cx="7466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Under the hood: How does DRAM annotate?</a:t>
            </a:r>
          </a:p>
        </p:txBody>
      </p:sp>
      <p:pic>
        <p:nvPicPr>
          <p:cNvPr id="3" name="Picture 2" descr="A diagram of a product&#10;&#10;AI-generated content may be incorrect.">
            <a:extLst>
              <a:ext uri="{FF2B5EF4-FFF2-40B4-BE49-F238E27FC236}">
                <a16:creationId xmlns:a16="http://schemas.microsoft.com/office/drawing/2014/main" id="{31784642-1750-C663-C4DE-A06A48BD5C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1169"/>
          <a:stretch>
            <a:fillRect/>
          </a:stretch>
        </p:blipFill>
        <p:spPr>
          <a:xfrm>
            <a:off x="3248337" y="1430360"/>
            <a:ext cx="5371342" cy="49468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34B0AA-DD15-BB9E-8124-3B52104DF081}"/>
              </a:ext>
            </a:extLst>
          </p:cNvPr>
          <p:cNvSpPr txBox="1"/>
          <p:nvPr/>
        </p:nvSpPr>
        <p:spPr>
          <a:xfrm>
            <a:off x="0" y="6611779"/>
            <a:ext cx="24975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cs typeface="Arial" panose="020B0604020202020204" pitchFamily="34" charset="0"/>
              </a:rPr>
              <a:t>Flowchart from Shaffer et al 2020. NAR.</a:t>
            </a:r>
          </a:p>
        </p:txBody>
      </p:sp>
      <p:sp>
        <p:nvSpPr>
          <p:cNvPr id="25" name="5-Point Star 24">
            <a:extLst>
              <a:ext uri="{FF2B5EF4-FFF2-40B4-BE49-F238E27FC236}">
                <a16:creationId xmlns:a16="http://schemas.microsoft.com/office/drawing/2014/main" id="{08AA6CC4-0D84-30F7-B3F3-0FD0FC09A72D}"/>
              </a:ext>
            </a:extLst>
          </p:cNvPr>
          <p:cNvSpPr/>
          <p:nvPr/>
        </p:nvSpPr>
        <p:spPr>
          <a:xfrm>
            <a:off x="4169545" y="1826733"/>
            <a:ext cx="536926" cy="536926"/>
          </a:xfrm>
          <a:prstGeom prst="star5">
            <a:avLst>
              <a:gd name="adj" fmla="val 22334"/>
              <a:gd name="hf" fmla="val 105146"/>
              <a:gd name="vf" fmla="val 110557"/>
            </a:avLst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206602-AE00-D5F2-D5B2-F707949C763A}"/>
              </a:ext>
            </a:extLst>
          </p:cNvPr>
          <p:cNvSpPr txBox="1"/>
          <p:nvPr/>
        </p:nvSpPr>
        <p:spPr>
          <a:xfrm>
            <a:off x="3573306" y="2366785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1.)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895AC3-3135-419E-8FD7-A721637E6C66}"/>
              </a:ext>
            </a:extLst>
          </p:cNvPr>
          <p:cNvSpPr txBox="1"/>
          <p:nvPr/>
        </p:nvSpPr>
        <p:spPr>
          <a:xfrm>
            <a:off x="3573306" y="3669199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2.)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CE6CC3-0B49-FDEF-CF3F-D56D335BE4B6}"/>
              </a:ext>
            </a:extLst>
          </p:cNvPr>
          <p:cNvSpPr txBox="1"/>
          <p:nvPr/>
        </p:nvSpPr>
        <p:spPr>
          <a:xfrm>
            <a:off x="384112" y="2542470"/>
            <a:ext cx="2910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1.)</a:t>
            </a:r>
            <a:r>
              <a:rPr lang="en-US" dirty="0"/>
              <a:t> Call genes for each MAG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850C91-92B1-D1BF-4C07-1AF76C89823B}"/>
              </a:ext>
            </a:extLst>
          </p:cNvPr>
          <p:cNvSpPr txBox="1"/>
          <p:nvPr/>
        </p:nvSpPr>
        <p:spPr>
          <a:xfrm>
            <a:off x="384111" y="3745087"/>
            <a:ext cx="2744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2.)</a:t>
            </a:r>
            <a:r>
              <a:rPr lang="en-US" dirty="0"/>
              <a:t> Make comparisons for each gene per database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1A3AE9-EF44-6505-0CE1-2D4F02AAD206}"/>
              </a:ext>
            </a:extLst>
          </p:cNvPr>
          <p:cNvSpPr txBox="1"/>
          <p:nvPr/>
        </p:nvSpPr>
        <p:spPr>
          <a:xfrm>
            <a:off x="8739642" y="2178993"/>
            <a:ext cx="3037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4.)</a:t>
            </a:r>
            <a:r>
              <a:rPr lang="en-US" dirty="0"/>
              <a:t> Get tRNA and rRNA genes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9C3F41-6A09-D5A3-5DA5-27E32B3223C4}"/>
              </a:ext>
            </a:extLst>
          </p:cNvPr>
          <p:cNvSpPr txBox="1"/>
          <p:nvPr/>
        </p:nvSpPr>
        <p:spPr>
          <a:xfrm>
            <a:off x="5414175" y="3575829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4.)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6E7704-0038-6286-5E4A-023246B85A9A}"/>
              </a:ext>
            </a:extLst>
          </p:cNvPr>
          <p:cNvSpPr txBox="1"/>
          <p:nvPr/>
        </p:nvSpPr>
        <p:spPr>
          <a:xfrm>
            <a:off x="7426427" y="3061232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5.)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3FB809-7D2C-6FF0-A0C0-B786BE29514B}"/>
              </a:ext>
            </a:extLst>
          </p:cNvPr>
          <p:cNvSpPr txBox="1"/>
          <p:nvPr/>
        </p:nvSpPr>
        <p:spPr>
          <a:xfrm>
            <a:off x="8739642" y="3429000"/>
            <a:ext cx="3031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5.)</a:t>
            </a:r>
            <a:r>
              <a:rPr lang="en-US" dirty="0"/>
              <a:t> Read in, or create, taxonomy for MAGs using GTDB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5104B2-56B2-2574-2CE9-719A16345CA4}"/>
              </a:ext>
            </a:extLst>
          </p:cNvPr>
          <p:cNvSpPr txBox="1"/>
          <p:nvPr/>
        </p:nvSpPr>
        <p:spPr>
          <a:xfrm>
            <a:off x="7426427" y="4261965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6.)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868D5F-5D7D-62CF-7245-374B748F21DC}"/>
              </a:ext>
            </a:extLst>
          </p:cNvPr>
          <p:cNvSpPr txBox="1"/>
          <p:nvPr/>
        </p:nvSpPr>
        <p:spPr>
          <a:xfrm>
            <a:off x="8739642" y="4659735"/>
            <a:ext cx="3240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6.)</a:t>
            </a:r>
            <a:r>
              <a:rPr lang="en-US" dirty="0"/>
              <a:t> Read in, or create, MAG quality metrics using checkM2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256ED4-E609-23F8-B287-ADA16BEE81E5}"/>
              </a:ext>
            </a:extLst>
          </p:cNvPr>
          <p:cNvSpPr txBox="1"/>
          <p:nvPr/>
        </p:nvSpPr>
        <p:spPr>
          <a:xfrm>
            <a:off x="5414175" y="4790611"/>
            <a:ext cx="673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3.)*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31B19F-3464-4323-EEB5-69C2FDFE234F}"/>
              </a:ext>
            </a:extLst>
          </p:cNvPr>
          <p:cNvSpPr txBox="1"/>
          <p:nvPr/>
        </p:nvSpPr>
        <p:spPr>
          <a:xfrm>
            <a:off x="384111" y="5306066"/>
            <a:ext cx="2607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3.)</a:t>
            </a:r>
            <a:r>
              <a:rPr lang="en-US" dirty="0"/>
              <a:t> Annotate gene with custom user-defined databases (*optional)</a:t>
            </a:r>
          </a:p>
        </p:txBody>
      </p:sp>
    </p:spTree>
    <p:extLst>
      <p:ext uri="{BB962C8B-B14F-4D97-AF65-F5344CB8AC3E}">
        <p14:creationId xmlns:p14="http://schemas.microsoft.com/office/powerpoint/2010/main" val="277200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5B109-0CBE-1583-D926-343A1A43F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39901D-1719-5281-EF6A-9151987ED35E}"/>
              </a:ext>
            </a:extLst>
          </p:cNvPr>
          <p:cNvSpPr txBox="1"/>
          <p:nvPr/>
        </p:nvSpPr>
        <p:spPr>
          <a:xfrm>
            <a:off x="497879" y="227724"/>
            <a:ext cx="9538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Under the hood: What gene databases does DRAM2 use?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59F6411-8879-BDD9-9D4E-03B1DCBDB7F4}"/>
              </a:ext>
            </a:extLst>
          </p:cNvPr>
          <p:cNvGrpSpPr/>
          <p:nvPr/>
        </p:nvGrpSpPr>
        <p:grpSpPr>
          <a:xfrm>
            <a:off x="586918" y="1171561"/>
            <a:ext cx="10372229" cy="4847946"/>
            <a:chOff x="586918" y="1171561"/>
            <a:chExt cx="10372229" cy="4847946"/>
          </a:xfrm>
        </p:grpSpPr>
        <p:pic>
          <p:nvPicPr>
            <p:cNvPr id="3" name="Picture 2" descr="A diagram of a product&#10;&#10;AI-generated content may be incorrect.">
              <a:extLst>
                <a:ext uri="{FF2B5EF4-FFF2-40B4-BE49-F238E27FC236}">
                  <a16:creationId xmlns:a16="http://schemas.microsoft.com/office/drawing/2014/main" id="{CB43B40A-15A0-A465-48EB-2DBA73AA6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900" t="25218" r="62632" b="44595"/>
            <a:stretch>
              <a:fillRect/>
            </a:stretch>
          </p:blipFill>
          <p:spPr>
            <a:xfrm>
              <a:off x="586918" y="1171561"/>
              <a:ext cx="2715298" cy="484794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703391-F351-2A53-3BB9-D63195B4D79E}"/>
                </a:ext>
              </a:extLst>
            </p:cNvPr>
            <p:cNvSpPr txBox="1"/>
            <p:nvPr/>
          </p:nvSpPr>
          <p:spPr>
            <a:xfrm>
              <a:off x="8242162" y="1410929"/>
              <a:ext cx="1458861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 Kegg</a:t>
              </a:r>
            </a:p>
            <a:p>
              <a:r>
                <a:rPr lang="en-US" dirty="0"/>
                <a:t>- </a:t>
              </a:r>
              <a:r>
                <a:rPr lang="en-US" dirty="0" err="1"/>
                <a:t>Pfam</a:t>
              </a:r>
              <a:endParaRPr lang="en-US" dirty="0"/>
            </a:p>
            <a:p>
              <a:r>
                <a:rPr lang="en-US" dirty="0"/>
                <a:t>- Uniref90</a:t>
              </a:r>
            </a:p>
            <a:p>
              <a:r>
                <a:rPr lang="en-US" dirty="0"/>
                <a:t>- </a:t>
              </a:r>
              <a:r>
                <a:rPr lang="en-US" dirty="0" err="1"/>
                <a:t>Vogdb</a:t>
              </a:r>
              <a:endParaRPr lang="en-US" dirty="0"/>
            </a:p>
            <a:p>
              <a:r>
                <a:rPr lang="en-US" dirty="0"/>
                <a:t>- </a:t>
              </a:r>
              <a:r>
                <a:rPr lang="en-US" dirty="0" err="1"/>
                <a:t>Refseq</a:t>
              </a:r>
              <a:r>
                <a:rPr lang="en-US" dirty="0"/>
                <a:t> viral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D20D47-4070-32A0-1C2E-CA3FC9D7227F}"/>
                </a:ext>
              </a:extLst>
            </p:cNvPr>
            <p:cNvSpPr txBox="1"/>
            <p:nvPr/>
          </p:nvSpPr>
          <p:spPr>
            <a:xfrm>
              <a:off x="4230915" y="1828482"/>
              <a:ext cx="289959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200" b="1" dirty="0"/>
                <a:t>Large, broad-coverage databases</a:t>
              </a:r>
            </a:p>
          </p:txBody>
        </p:sp>
        <p:sp>
          <p:nvSpPr>
            <p:cNvPr id="21" name="Left Brace 20">
              <a:extLst>
                <a:ext uri="{FF2B5EF4-FFF2-40B4-BE49-F238E27FC236}">
                  <a16:creationId xmlns:a16="http://schemas.microsoft.com/office/drawing/2014/main" id="{B11E29CB-732D-C0CF-1F66-49AAD7213159}"/>
                </a:ext>
              </a:extLst>
            </p:cNvPr>
            <p:cNvSpPr/>
            <p:nvPr/>
          </p:nvSpPr>
          <p:spPr>
            <a:xfrm rot="10800000">
              <a:off x="7112998" y="1559461"/>
              <a:ext cx="377408" cy="1307483"/>
            </a:xfrm>
            <a:prstGeom prst="leftBrace">
              <a:avLst>
                <a:gd name="adj1" fmla="val 72771"/>
                <a:gd name="adj2" fmla="val 50676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BDC14C1-00DA-D734-68DF-080DC9FB4072}"/>
                </a:ext>
              </a:extLst>
            </p:cNvPr>
            <p:cNvSpPr txBox="1"/>
            <p:nvPr/>
          </p:nvSpPr>
          <p:spPr>
            <a:xfrm>
              <a:off x="7640747" y="3538152"/>
              <a:ext cx="10567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 Merops</a:t>
              </a:r>
              <a:br>
                <a:rPr lang="en-US" dirty="0"/>
              </a:br>
              <a:r>
                <a:rPr lang="en-US" dirty="0"/>
                <a:t>- </a:t>
              </a:r>
              <a:r>
                <a:rPr lang="en-US" dirty="0" err="1"/>
                <a:t>dbCAN</a:t>
              </a:r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2CBA36-612A-4CB4-F79E-FA07E101709B}"/>
                </a:ext>
              </a:extLst>
            </p:cNvPr>
            <p:cNvSpPr txBox="1"/>
            <p:nvPr/>
          </p:nvSpPr>
          <p:spPr>
            <a:xfrm>
              <a:off x="9669050" y="3538152"/>
              <a:ext cx="129009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Peptidases</a:t>
              </a:r>
              <a:br>
                <a:rPr lang="en-US" dirty="0"/>
              </a:br>
              <a:r>
                <a:rPr lang="en-US" dirty="0" err="1"/>
                <a:t>CAZymes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DFE197-FA65-8EAA-7D5C-514390D1B3AD}"/>
                </a:ext>
              </a:extLst>
            </p:cNvPr>
            <p:cNvSpPr txBox="1"/>
            <p:nvPr/>
          </p:nvSpPr>
          <p:spPr>
            <a:xfrm>
              <a:off x="4176692" y="4191758"/>
              <a:ext cx="303444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200" b="1" dirty="0"/>
                <a:t>Specialized, function-targeted databases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48BF23E-FA96-04AF-9D27-7FB70EE9C3B8}"/>
                </a:ext>
              </a:extLst>
            </p:cNvPr>
            <p:cNvCxnSpPr>
              <a:cxnSpLocks/>
            </p:cNvCxnSpPr>
            <p:nvPr/>
          </p:nvCxnSpPr>
          <p:spPr>
            <a:xfrm>
              <a:off x="9167529" y="4516052"/>
              <a:ext cx="421744" cy="0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1A2258C0-2706-8D48-8DF9-5BA55F5F9973}"/>
                </a:ext>
              </a:extLst>
            </p:cNvPr>
            <p:cNvSpPr/>
            <p:nvPr/>
          </p:nvSpPr>
          <p:spPr>
            <a:xfrm rot="10800000">
              <a:off x="7112998" y="3560815"/>
              <a:ext cx="377408" cy="2031325"/>
            </a:xfrm>
            <a:prstGeom prst="leftBrace">
              <a:avLst>
                <a:gd name="adj1" fmla="val 77217"/>
                <a:gd name="adj2" fmla="val 50676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CCDF485-7354-4D01-9358-897CDCE37E41}"/>
              </a:ext>
            </a:extLst>
          </p:cNvPr>
          <p:cNvSpPr txBox="1"/>
          <p:nvPr/>
        </p:nvSpPr>
        <p:spPr>
          <a:xfrm>
            <a:off x="0" y="6611779"/>
            <a:ext cx="24975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cs typeface="Arial" panose="020B0604020202020204" pitchFamily="34" charset="0"/>
              </a:rPr>
              <a:t>Flowchart from Shaffer et al 2020. NAR.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033484A-12EF-FA83-C8C7-DB58430A3CA9}"/>
              </a:ext>
            </a:extLst>
          </p:cNvPr>
          <p:cNvGrpSpPr/>
          <p:nvPr/>
        </p:nvGrpSpPr>
        <p:grpSpPr>
          <a:xfrm>
            <a:off x="699835" y="4184483"/>
            <a:ext cx="11161075" cy="2315826"/>
            <a:chOff x="699835" y="4184483"/>
            <a:chExt cx="11161075" cy="231582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FDFF4E-A39C-F0F6-DF66-A6F331681559}"/>
                </a:ext>
              </a:extLst>
            </p:cNvPr>
            <p:cNvSpPr txBox="1"/>
            <p:nvPr/>
          </p:nvSpPr>
          <p:spPr>
            <a:xfrm>
              <a:off x="699835" y="6130977"/>
              <a:ext cx="2489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Plus MORE in DRAM2*</a:t>
              </a:r>
            </a:p>
          </p:txBody>
        </p:sp>
        <p:sp>
          <p:nvSpPr>
            <p:cNvPr id="9" name="Bent-Up Arrow 8">
              <a:extLst>
                <a:ext uri="{FF2B5EF4-FFF2-40B4-BE49-F238E27FC236}">
                  <a16:creationId xmlns:a16="http://schemas.microsoft.com/office/drawing/2014/main" id="{5DFDFE59-7FE9-B8DA-DA03-EAF34C528156}"/>
                </a:ext>
              </a:extLst>
            </p:cNvPr>
            <p:cNvSpPr/>
            <p:nvPr/>
          </p:nvSpPr>
          <p:spPr>
            <a:xfrm>
              <a:off x="3542006" y="5927765"/>
              <a:ext cx="2383666" cy="396274"/>
            </a:xfrm>
            <a:prstGeom prst="bentUpArrow">
              <a:avLst>
                <a:gd name="adj1" fmla="val 22738"/>
                <a:gd name="adj2" fmla="val 34049"/>
                <a:gd name="adj3" fmla="val 38574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232F1F-27F6-3D40-966C-7A1C90E584C0}"/>
                </a:ext>
              </a:extLst>
            </p:cNvPr>
            <p:cNvSpPr txBox="1"/>
            <p:nvPr/>
          </p:nvSpPr>
          <p:spPr>
            <a:xfrm>
              <a:off x="7640747" y="4184483"/>
              <a:ext cx="1308628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 *Camper</a:t>
              </a:r>
            </a:p>
            <a:p>
              <a:r>
                <a:rPr lang="en-US" dirty="0"/>
                <a:t>- *</a:t>
              </a:r>
              <a:r>
                <a:rPr lang="en-US" dirty="0" err="1"/>
                <a:t>cantHYD</a:t>
              </a:r>
              <a:br>
                <a:rPr lang="en-US" dirty="0"/>
              </a:br>
              <a:r>
                <a:rPr lang="en-US" dirty="0"/>
                <a:t>- *</a:t>
              </a:r>
              <a:r>
                <a:rPr lang="en-US" dirty="0" err="1"/>
                <a:t>Fegenie</a:t>
              </a:r>
              <a:endParaRPr lang="en-US" dirty="0"/>
            </a:p>
            <a:p>
              <a:r>
                <a:rPr lang="en-US" dirty="0"/>
                <a:t>- *Methyl</a:t>
              </a:r>
              <a:br>
                <a:rPr lang="en-US" dirty="0"/>
              </a:br>
              <a:r>
                <a:rPr lang="en-US" dirty="0"/>
                <a:t>- *Sulfur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DE31DC5-82AD-52BA-7DA5-4E639D210AE2}"/>
                </a:ext>
              </a:extLst>
            </p:cNvPr>
            <p:cNvSpPr txBox="1"/>
            <p:nvPr/>
          </p:nvSpPr>
          <p:spPr>
            <a:xfrm>
              <a:off x="9701023" y="4184483"/>
              <a:ext cx="2159887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Polyphenols</a:t>
              </a:r>
            </a:p>
            <a:p>
              <a:r>
                <a:rPr lang="en-US" dirty="0"/>
                <a:t>Hydrocarbons</a:t>
              </a:r>
            </a:p>
            <a:p>
              <a:r>
                <a:rPr lang="en-US" dirty="0"/>
                <a:t>Iron metabolism</a:t>
              </a:r>
            </a:p>
            <a:p>
              <a:r>
                <a:rPr lang="en-US" dirty="0"/>
                <a:t>Methylotrophy</a:t>
              </a:r>
            </a:p>
            <a:p>
              <a:r>
                <a:rPr lang="en-US" dirty="0"/>
                <a:t>Sulfur cycling genes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385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F4661-0F0F-1FC6-C011-31AF39D7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033C16-4AC8-8C25-6C57-7DEF3A169A9F}"/>
              </a:ext>
            </a:extLst>
          </p:cNvPr>
          <p:cNvSpPr txBox="1"/>
          <p:nvPr/>
        </p:nvSpPr>
        <p:spPr>
          <a:xfrm>
            <a:off x="497879" y="227724"/>
            <a:ext cx="6102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Under the hood: Annotation outputs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8B5ED3-098E-4F59-877F-26F8520CE6F6}"/>
              </a:ext>
            </a:extLst>
          </p:cNvPr>
          <p:cNvSpPr txBox="1"/>
          <p:nvPr/>
        </p:nvSpPr>
        <p:spPr>
          <a:xfrm>
            <a:off x="0" y="6611779"/>
            <a:ext cx="24975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cs typeface="Arial" panose="020B0604020202020204" pitchFamily="34" charset="0"/>
              </a:rPr>
              <a:t>Flowchart from Shaffer et al 2020. NAR.</a:t>
            </a:r>
          </a:p>
        </p:txBody>
      </p:sp>
      <p:pic>
        <p:nvPicPr>
          <p:cNvPr id="2" name="Picture 1" descr="A diagram of a product&#10;&#10;AI-generated content may be incorrect.">
            <a:extLst>
              <a:ext uri="{FF2B5EF4-FFF2-40B4-BE49-F238E27FC236}">
                <a16:creationId xmlns:a16="http://schemas.microsoft.com/office/drawing/2014/main" id="{A83E0319-924B-54D8-C484-EFBE5A1DFA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1169"/>
          <a:stretch>
            <a:fillRect/>
          </a:stretch>
        </p:blipFill>
        <p:spPr>
          <a:xfrm>
            <a:off x="2497579" y="1543482"/>
            <a:ext cx="4240310" cy="39052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1CAECF-8845-D448-CB40-83D9FDA56747}"/>
              </a:ext>
            </a:extLst>
          </p:cNvPr>
          <p:cNvSpPr txBox="1"/>
          <p:nvPr/>
        </p:nvSpPr>
        <p:spPr>
          <a:xfrm>
            <a:off x="3690559" y="5868500"/>
            <a:ext cx="289959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/>
              <a:t>Raw annotations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DDA9BC-22E7-54CC-EFC3-44208167A54A}"/>
              </a:ext>
            </a:extLst>
          </p:cNvPr>
          <p:cNvSpPr txBox="1"/>
          <p:nvPr/>
        </p:nvSpPr>
        <p:spPr>
          <a:xfrm>
            <a:off x="8069649" y="2702403"/>
            <a:ext cx="324954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Additional useful information</a:t>
            </a:r>
            <a:br>
              <a:rPr lang="en-US" b="1" dirty="0"/>
            </a:br>
            <a:r>
              <a:rPr lang="en-US" b="1" dirty="0"/>
              <a:t>for each MAG analyzed</a:t>
            </a:r>
            <a:br>
              <a:rPr lang="en-US" dirty="0"/>
            </a:br>
            <a:br>
              <a:rPr lang="en-US" sz="1000" dirty="0"/>
            </a:br>
            <a:r>
              <a:rPr lang="en-US" dirty="0"/>
              <a:t>- </a:t>
            </a:r>
            <a:r>
              <a:rPr lang="en-US" dirty="0" err="1"/>
              <a:t>MMSeqs</a:t>
            </a:r>
            <a:r>
              <a:rPr lang="en-US" dirty="0"/>
              <a:t> &amp; HMM outputs</a:t>
            </a:r>
          </a:p>
          <a:p>
            <a:r>
              <a:rPr lang="en-US" dirty="0"/>
              <a:t>- Gene and protein sequences</a:t>
            </a:r>
          </a:p>
          <a:p>
            <a:r>
              <a:rPr lang="en-US" dirty="0"/>
              <a:t>- GFF files</a:t>
            </a:r>
          </a:p>
        </p:txBody>
      </p:sp>
      <p:sp>
        <p:nvSpPr>
          <p:cNvPr id="15" name="5-Point Star 14">
            <a:extLst>
              <a:ext uri="{FF2B5EF4-FFF2-40B4-BE49-F238E27FC236}">
                <a16:creationId xmlns:a16="http://schemas.microsoft.com/office/drawing/2014/main" id="{277AF748-8518-EC7D-5D05-E83C9D4915FE}"/>
              </a:ext>
            </a:extLst>
          </p:cNvPr>
          <p:cNvSpPr/>
          <p:nvPr/>
        </p:nvSpPr>
        <p:spPr>
          <a:xfrm>
            <a:off x="3449777" y="5789364"/>
            <a:ext cx="481563" cy="481563"/>
          </a:xfrm>
          <a:prstGeom prst="star5">
            <a:avLst>
              <a:gd name="adj" fmla="val 22334"/>
              <a:gd name="hf" fmla="val 105146"/>
              <a:gd name="vf" fmla="val 110557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26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BBD56-2AA2-3AC9-341F-9AC7D8837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42B395-388A-7ABD-41D9-F8469FD8F63B}"/>
              </a:ext>
            </a:extLst>
          </p:cNvPr>
          <p:cNvSpPr txBox="1"/>
          <p:nvPr/>
        </p:nvSpPr>
        <p:spPr>
          <a:xfrm>
            <a:off x="497879" y="227724"/>
            <a:ext cx="7834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Under the hood: How does DRAM summarize?</a:t>
            </a:r>
          </a:p>
        </p:txBody>
      </p:sp>
      <p:pic>
        <p:nvPicPr>
          <p:cNvPr id="2" name="Picture 1" descr="A diagram of a product&#10;&#10;AI-generated content may be incorrect.">
            <a:extLst>
              <a:ext uri="{FF2B5EF4-FFF2-40B4-BE49-F238E27FC236}">
                <a16:creationId xmlns:a16="http://schemas.microsoft.com/office/drawing/2014/main" id="{A5F68553-E125-7002-23E0-FCAE8EF386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976" b="264"/>
          <a:stretch>
            <a:fillRect/>
          </a:stretch>
        </p:blipFill>
        <p:spPr>
          <a:xfrm>
            <a:off x="2653263" y="1875935"/>
            <a:ext cx="6811247" cy="43460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968877-AAE7-036D-9A28-BC0D87F76784}"/>
              </a:ext>
            </a:extLst>
          </p:cNvPr>
          <p:cNvSpPr txBox="1"/>
          <p:nvPr/>
        </p:nvSpPr>
        <p:spPr>
          <a:xfrm>
            <a:off x="3379114" y="1405168"/>
            <a:ext cx="535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Now called “Summarize” and “Visualize” in DRAM2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903C9-4067-10C2-4FB4-E1B1708B61AE}"/>
              </a:ext>
            </a:extLst>
          </p:cNvPr>
          <p:cNvSpPr txBox="1"/>
          <p:nvPr/>
        </p:nvSpPr>
        <p:spPr>
          <a:xfrm>
            <a:off x="3244724" y="3071030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1.)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99AC0E-A55A-B709-0F26-D0BA14286B29}"/>
              </a:ext>
            </a:extLst>
          </p:cNvPr>
          <p:cNvSpPr txBox="1"/>
          <p:nvPr/>
        </p:nvSpPr>
        <p:spPr>
          <a:xfrm>
            <a:off x="5257178" y="3071030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2.)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16C8DD-EEFE-6C05-032C-F96F679F992B}"/>
              </a:ext>
            </a:extLst>
          </p:cNvPr>
          <p:cNvSpPr txBox="1"/>
          <p:nvPr/>
        </p:nvSpPr>
        <p:spPr>
          <a:xfrm>
            <a:off x="7269632" y="3071030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3.)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DE03F8-FD2E-42BD-3E5A-D773EEAD564E}"/>
              </a:ext>
            </a:extLst>
          </p:cNvPr>
          <p:cNvSpPr txBox="1"/>
          <p:nvPr/>
        </p:nvSpPr>
        <p:spPr>
          <a:xfrm>
            <a:off x="128593" y="3105834"/>
            <a:ext cx="2269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1.)</a:t>
            </a:r>
            <a:r>
              <a:rPr lang="en-US" dirty="0"/>
              <a:t> Read in compiled annotation 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2B1253-0F6E-1CB9-8431-147D018B1A77}"/>
              </a:ext>
            </a:extLst>
          </p:cNvPr>
          <p:cNvSpPr txBox="1"/>
          <p:nvPr/>
        </p:nvSpPr>
        <p:spPr>
          <a:xfrm>
            <a:off x="128593" y="4701618"/>
            <a:ext cx="2581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2.)</a:t>
            </a:r>
            <a:r>
              <a:rPr lang="en-US" dirty="0"/>
              <a:t> Summarize MAG properties &amp; presence of functional genes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E05965-4436-8541-E3D6-ABC613924A43}"/>
              </a:ext>
            </a:extLst>
          </p:cNvPr>
          <p:cNvSpPr txBox="1"/>
          <p:nvPr/>
        </p:nvSpPr>
        <p:spPr>
          <a:xfrm>
            <a:off x="9720029" y="3778288"/>
            <a:ext cx="21671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3.)</a:t>
            </a:r>
            <a:r>
              <a:rPr lang="en-US" dirty="0"/>
              <a:t> Summarize MAG metabolisms by functional genes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63755-A115-10FB-AE37-F3976C04EC4E}"/>
              </a:ext>
            </a:extLst>
          </p:cNvPr>
          <p:cNvSpPr txBox="1"/>
          <p:nvPr/>
        </p:nvSpPr>
        <p:spPr>
          <a:xfrm>
            <a:off x="4471433" y="6222025"/>
            <a:ext cx="4993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DRAM genome summary form</a:t>
            </a:r>
            <a:endParaRPr lang="en-US" sz="2400" dirty="0"/>
          </a:p>
        </p:txBody>
      </p:sp>
      <p:sp>
        <p:nvSpPr>
          <p:cNvPr id="5" name="5-Point Star 4">
            <a:extLst>
              <a:ext uri="{FF2B5EF4-FFF2-40B4-BE49-F238E27FC236}">
                <a16:creationId xmlns:a16="http://schemas.microsoft.com/office/drawing/2014/main" id="{BDB46602-CB80-B9A1-79AA-C0E591906938}"/>
              </a:ext>
            </a:extLst>
          </p:cNvPr>
          <p:cNvSpPr/>
          <p:nvPr/>
        </p:nvSpPr>
        <p:spPr>
          <a:xfrm>
            <a:off x="3881430" y="6160859"/>
            <a:ext cx="481563" cy="481563"/>
          </a:xfrm>
          <a:prstGeom prst="star5">
            <a:avLst>
              <a:gd name="adj" fmla="val 22334"/>
              <a:gd name="hf" fmla="val 105146"/>
              <a:gd name="vf" fmla="val 110557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53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0AB3F-9F37-2D72-0D2D-8A7E82A44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734B6A-6155-588D-0D82-945036DCD09F}"/>
              </a:ext>
            </a:extLst>
          </p:cNvPr>
          <p:cNvSpPr txBox="1"/>
          <p:nvPr/>
        </p:nvSpPr>
        <p:spPr>
          <a:xfrm>
            <a:off x="497879" y="227724"/>
            <a:ext cx="6152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Under the hood: Summarize outputs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3710D1-C045-033C-7147-F8FD2AC49DBC}"/>
              </a:ext>
            </a:extLst>
          </p:cNvPr>
          <p:cNvSpPr txBox="1"/>
          <p:nvPr/>
        </p:nvSpPr>
        <p:spPr>
          <a:xfrm>
            <a:off x="0" y="6611779"/>
            <a:ext cx="24975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cs typeface="Arial" panose="020B0604020202020204" pitchFamily="34" charset="0"/>
              </a:rPr>
              <a:t>Flowchart from Shaffer et al 2020. NAR.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23DDB-1BB1-D525-2127-348E04E6C513}"/>
              </a:ext>
            </a:extLst>
          </p:cNvPr>
          <p:cNvSpPr txBox="1"/>
          <p:nvPr/>
        </p:nvSpPr>
        <p:spPr>
          <a:xfrm>
            <a:off x="824810" y="1541597"/>
            <a:ext cx="289959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/>
              <a:t>Raw annotations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54DE2D-9304-1C0F-60D4-750219B6A019}"/>
              </a:ext>
            </a:extLst>
          </p:cNvPr>
          <p:cNvSpPr txBox="1"/>
          <p:nvPr/>
        </p:nvSpPr>
        <p:spPr>
          <a:xfrm>
            <a:off x="8672965" y="4694548"/>
            <a:ext cx="32990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Additional useful information summarized for each MAG</a:t>
            </a:r>
            <a:br>
              <a:rPr lang="en-US" dirty="0"/>
            </a:br>
            <a:br>
              <a:rPr lang="en-US" sz="1000" dirty="0"/>
            </a:br>
            <a:r>
              <a:rPr lang="en-US" dirty="0"/>
              <a:t>- Genome statistics</a:t>
            </a:r>
          </a:p>
        </p:txBody>
      </p:sp>
      <p:sp>
        <p:nvSpPr>
          <p:cNvPr id="15" name="5-Point Star 14">
            <a:extLst>
              <a:ext uri="{FF2B5EF4-FFF2-40B4-BE49-F238E27FC236}">
                <a16:creationId xmlns:a16="http://schemas.microsoft.com/office/drawing/2014/main" id="{697CF7D7-9BE5-A785-3745-89ABF82AF22D}"/>
              </a:ext>
            </a:extLst>
          </p:cNvPr>
          <p:cNvSpPr/>
          <p:nvPr/>
        </p:nvSpPr>
        <p:spPr>
          <a:xfrm>
            <a:off x="584028" y="1462461"/>
            <a:ext cx="481563" cy="481563"/>
          </a:xfrm>
          <a:prstGeom prst="star5">
            <a:avLst>
              <a:gd name="adj" fmla="val 22334"/>
              <a:gd name="hf" fmla="val 105146"/>
              <a:gd name="vf" fmla="val 110557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product&#10;&#10;AI-generated content may be incorrect.">
            <a:extLst>
              <a:ext uri="{FF2B5EF4-FFF2-40B4-BE49-F238E27FC236}">
                <a16:creationId xmlns:a16="http://schemas.microsoft.com/office/drawing/2014/main" id="{40DA5D90-2116-EBAC-74CD-966DBE4769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976" b="264"/>
          <a:stretch>
            <a:fillRect/>
          </a:stretch>
        </p:blipFill>
        <p:spPr>
          <a:xfrm>
            <a:off x="1954529" y="2061391"/>
            <a:ext cx="6224594" cy="3971761"/>
          </a:xfrm>
          <a:prstGeom prst="rect">
            <a:avLst/>
          </a:prstGeom>
        </p:spPr>
      </p:pic>
      <p:sp>
        <p:nvSpPr>
          <p:cNvPr id="6" name="Bent-Up Arrow 5">
            <a:extLst>
              <a:ext uri="{FF2B5EF4-FFF2-40B4-BE49-F238E27FC236}">
                <a16:creationId xmlns:a16="http://schemas.microsoft.com/office/drawing/2014/main" id="{CB7DA2B8-9347-057C-31FA-184598D36484}"/>
              </a:ext>
            </a:extLst>
          </p:cNvPr>
          <p:cNvSpPr/>
          <p:nvPr/>
        </p:nvSpPr>
        <p:spPr>
          <a:xfrm rot="5400000">
            <a:off x="-270812" y="3174947"/>
            <a:ext cx="2642928" cy="396274"/>
          </a:xfrm>
          <a:prstGeom prst="bentUpArrow">
            <a:avLst>
              <a:gd name="adj1" fmla="val 22738"/>
              <a:gd name="adj2" fmla="val 34049"/>
              <a:gd name="adj3" fmla="val 38574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72973D-F068-F002-0817-FD3B52978C88}"/>
              </a:ext>
            </a:extLst>
          </p:cNvPr>
          <p:cNvSpPr txBox="1"/>
          <p:nvPr/>
        </p:nvSpPr>
        <p:spPr>
          <a:xfrm>
            <a:off x="9395979" y="2213022"/>
            <a:ext cx="2268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Metabolism summary</a:t>
            </a:r>
            <a:endParaRPr lang="en-US" sz="2400" dirty="0"/>
          </a:p>
        </p:txBody>
      </p:sp>
      <p:sp>
        <p:nvSpPr>
          <p:cNvPr id="11" name="5-Point Star 10">
            <a:extLst>
              <a:ext uri="{FF2B5EF4-FFF2-40B4-BE49-F238E27FC236}">
                <a16:creationId xmlns:a16="http://schemas.microsoft.com/office/drawing/2014/main" id="{12E1ADA9-51A6-3E5F-6675-E7A12795C78E}"/>
              </a:ext>
            </a:extLst>
          </p:cNvPr>
          <p:cNvSpPr/>
          <p:nvPr/>
        </p:nvSpPr>
        <p:spPr>
          <a:xfrm>
            <a:off x="8749414" y="2346878"/>
            <a:ext cx="481563" cy="481563"/>
          </a:xfrm>
          <a:prstGeom prst="star5">
            <a:avLst>
              <a:gd name="adj" fmla="val 22334"/>
              <a:gd name="hf" fmla="val 105146"/>
              <a:gd name="vf" fmla="val 110557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4F632D-611B-D0B6-DCEB-87C54367C02C}"/>
              </a:ext>
            </a:extLst>
          </p:cNvPr>
          <p:cNvSpPr txBox="1"/>
          <p:nvPr/>
        </p:nvSpPr>
        <p:spPr>
          <a:xfrm>
            <a:off x="9395979" y="3582754"/>
            <a:ext cx="2268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MAG traits</a:t>
            </a:r>
            <a:endParaRPr lang="en-US" sz="2400" dirty="0"/>
          </a:p>
        </p:txBody>
      </p:sp>
      <p:sp>
        <p:nvSpPr>
          <p:cNvPr id="16" name="5-Point Star 15">
            <a:extLst>
              <a:ext uri="{FF2B5EF4-FFF2-40B4-BE49-F238E27FC236}">
                <a16:creationId xmlns:a16="http://schemas.microsoft.com/office/drawing/2014/main" id="{4E5C220C-2A86-049A-D894-A08104924EFC}"/>
              </a:ext>
            </a:extLst>
          </p:cNvPr>
          <p:cNvSpPr/>
          <p:nvPr/>
        </p:nvSpPr>
        <p:spPr>
          <a:xfrm>
            <a:off x="8749414" y="3562856"/>
            <a:ext cx="481563" cy="481563"/>
          </a:xfrm>
          <a:prstGeom prst="star5">
            <a:avLst>
              <a:gd name="adj" fmla="val 22334"/>
              <a:gd name="hf" fmla="val 105146"/>
              <a:gd name="vf" fmla="val 110557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0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0D2B7-55BA-65B9-B097-D69542F68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F4EDB-1872-9524-C2B1-04DEAA8D73F3}"/>
              </a:ext>
            </a:extLst>
          </p:cNvPr>
          <p:cNvSpPr txBox="1"/>
          <p:nvPr/>
        </p:nvSpPr>
        <p:spPr>
          <a:xfrm>
            <a:off x="497879" y="227724"/>
            <a:ext cx="63250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Under the hood: DRAM2 visualization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8441AC-BA13-7449-6BC5-39F66F06B61E}"/>
              </a:ext>
            </a:extLst>
          </p:cNvPr>
          <p:cNvSpPr txBox="1"/>
          <p:nvPr/>
        </p:nvSpPr>
        <p:spPr>
          <a:xfrm>
            <a:off x="2279042" y="3013501"/>
            <a:ext cx="2268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Metabolism summary</a:t>
            </a:r>
            <a:endParaRPr lang="en-US" sz="2400" dirty="0"/>
          </a:p>
        </p:txBody>
      </p:sp>
      <p:sp>
        <p:nvSpPr>
          <p:cNvPr id="11" name="5-Point Star 10">
            <a:extLst>
              <a:ext uri="{FF2B5EF4-FFF2-40B4-BE49-F238E27FC236}">
                <a16:creationId xmlns:a16="http://schemas.microsoft.com/office/drawing/2014/main" id="{5EFFB972-ED0B-A0D9-6F90-055BCEBE8B15}"/>
              </a:ext>
            </a:extLst>
          </p:cNvPr>
          <p:cNvSpPr/>
          <p:nvPr/>
        </p:nvSpPr>
        <p:spPr>
          <a:xfrm>
            <a:off x="1632477" y="3147357"/>
            <a:ext cx="481563" cy="481563"/>
          </a:xfrm>
          <a:prstGeom prst="star5">
            <a:avLst>
              <a:gd name="adj" fmla="val 22334"/>
              <a:gd name="hf" fmla="val 105146"/>
              <a:gd name="vf" fmla="val 110557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B06047-A798-8235-5B92-26C581DF49FF}"/>
              </a:ext>
            </a:extLst>
          </p:cNvPr>
          <p:cNvSpPr txBox="1"/>
          <p:nvPr/>
        </p:nvSpPr>
        <p:spPr>
          <a:xfrm>
            <a:off x="8261297" y="3198167"/>
            <a:ext cx="2720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HTML Heatmap</a:t>
            </a:r>
            <a:endParaRPr lang="en-US" sz="2400" dirty="0"/>
          </a:p>
        </p:txBody>
      </p:sp>
      <p:sp>
        <p:nvSpPr>
          <p:cNvPr id="16" name="5-Point Star 15">
            <a:extLst>
              <a:ext uri="{FF2B5EF4-FFF2-40B4-BE49-F238E27FC236}">
                <a16:creationId xmlns:a16="http://schemas.microsoft.com/office/drawing/2014/main" id="{3F946912-62B4-3AB1-4859-24240DEB255F}"/>
              </a:ext>
            </a:extLst>
          </p:cNvPr>
          <p:cNvSpPr/>
          <p:nvPr/>
        </p:nvSpPr>
        <p:spPr>
          <a:xfrm>
            <a:off x="7614732" y="3147357"/>
            <a:ext cx="481563" cy="481563"/>
          </a:xfrm>
          <a:prstGeom prst="star5">
            <a:avLst>
              <a:gd name="adj" fmla="val 22334"/>
              <a:gd name="hf" fmla="val 105146"/>
              <a:gd name="vf" fmla="val 110557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6F96446-9B82-F0A9-957E-415D31304289}"/>
              </a:ext>
            </a:extLst>
          </p:cNvPr>
          <p:cNvCxnSpPr>
            <a:cxnSpLocks/>
          </p:cNvCxnSpPr>
          <p:nvPr/>
        </p:nvCxnSpPr>
        <p:spPr>
          <a:xfrm>
            <a:off x="5168736" y="3450388"/>
            <a:ext cx="1501149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F636577-FE9A-78E1-7014-780A29978AE6}"/>
              </a:ext>
            </a:extLst>
          </p:cNvPr>
          <p:cNvSpPr txBox="1"/>
          <p:nvPr/>
        </p:nvSpPr>
        <p:spPr>
          <a:xfrm>
            <a:off x="5217569" y="2962691"/>
            <a:ext cx="1262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DRAM2-viz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38324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0A099-AF7E-4D4A-9AD5-312D0D219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C3C48C-6C33-1A36-61B0-DAC214519427}"/>
              </a:ext>
            </a:extLst>
          </p:cNvPr>
          <p:cNvSpPr txBox="1"/>
          <p:nvPr/>
        </p:nvSpPr>
        <p:spPr>
          <a:xfrm>
            <a:off x="497879" y="227724"/>
            <a:ext cx="6308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What is new in DRAM2 (beta release)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32DBB6AC-E081-8DA7-5361-193219C9C6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59" t="9819" r="12209" b="9771"/>
          <a:stretch>
            <a:fillRect/>
          </a:stretch>
        </p:blipFill>
        <p:spPr>
          <a:xfrm>
            <a:off x="1063095" y="4411954"/>
            <a:ext cx="2197163" cy="20642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636FE6-05D3-CD9C-581B-E3A02100B309}"/>
              </a:ext>
            </a:extLst>
          </p:cNvPr>
          <p:cNvSpPr txBox="1"/>
          <p:nvPr/>
        </p:nvSpPr>
        <p:spPr>
          <a:xfrm>
            <a:off x="4616606" y="3253046"/>
            <a:ext cx="54819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Improved utility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Additional databases and metabolism summaries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7786BE-CDB3-70E5-E7B3-4844B30808D0}"/>
              </a:ext>
            </a:extLst>
          </p:cNvPr>
          <p:cNvSpPr txBox="1"/>
          <p:nvPr/>
        </p:nvSpPr>
        <p:spPr>
          <a:xfrm>
            <a:off x="4616606" y="1467942"/>
            <a:ext cx="457138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Better software and pipeline management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Easier database set-up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10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 err="1"/>
              <a:t>Nextflow</a:t>
            </a:r>
            <a:r>
              <a:rPr lang="en-US" dirty="0"/>
              <a:t> implementation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A248CE-38C3-7B9D-D0BC-83F12DF66379}"/>
              </a:ext>
            </a:extLst>
          </p:cNvPr>
          <p:cNvSpPr txBox="1"/>
          <p:nvPr/>
        </p:nvSpPr>
        <p:spPr>
          <a:xfrm>
            <a:off x="4616606" y="4700551"/>
            <a:ext cx="748974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New functionality</a:t>
            </a:r>
            <a:br>
              <a:rPr lang="en-US" b="1" dirty="0"/>
            </a:br>
            <a:endParaRPr lang="en-US" b="1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Classification of genomes/MAGs into functional guilds</a:t>
            </a:r>
          </a:p>
          <a:p>
            <a:endParaRPr lang="en-US" sz="10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Direct integration of </a:t>
            </a:r>
            <a:r>
              <a:rPr lang="en-US" dirty="0" err="1"/>
              <a:t>metatranscriptome</a:t>
            </a:r>
            <a:r>
              <a:rPr lang="en-US" dirty="0"/>
              <a:t> data (coming with full release)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pic>
        <p:nvPicPr>
          <p:cNvPr id="1026" name="Picture 2" descr="Distill Viral Assemblies with DRAM-v ...">
            <a:extLst>
              <a:ext uri="{FF2B5EF4-FFF2-40B4-BE49-F238E27FC236}">
                <a16:creationId xmlns:a16="http://schemas.microsoft.com/office/drawing/2014/main" id="{0BEBC4CE-93C8-546E-73BF-3B9B390B5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766" y="1233165"/>
            <a:ext cx="1873822" cy="1883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F74150-E3BF-F26D-6F0F-30C538D190E1}"/>
              </a:ext>
            </a:extLst>
          </p:cNvPr>
          <p:cNvCxnSpPr>
            <a:cxnSpLocks/>
          </p:cNvCxnSpPr>
          <p:nvPr/>
        </p:nvCxnSpPr>
        <p:spPr>
          <a:xfrm rot="5400000">
            <a:off x="1846059" y="3746882"/>
            <a:ext cx="631236" cy="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728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18190-BA81-8969-61D2-24110065F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8B436C-94E5-FDDF-2581-224FB9576BDA}"/>
              </a:ext>
            </a:extLst>
          </p:cNvPr>
          <p:cNvSpPr txBox="1"/>
          <p:nvPr/>
        </p:nvSpPr>
        <p:spPr>
          <a:xfrm>
            <a:off x="497879" y="227724"/>
            <a:ext cx="107832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+mj-lt"/>
              </a:rPr>
              <a:t>Nextflow</a:t>
            </a:r>
            <a:r>
              <a:rPr lang="en-US" sz="3200" dirty="0">
                <a:latin typeface="+mj-lt"/>
              </a:rPr>
              <a:t> enables better HPC and analysis pipeline management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68BF4E-BF91-8B09-14E0-BC69DA72808B}"/>
              </a:ext>
            </a:extLst>
          </p:cNvPr>
          <p:cNvGrpSpPr/>
          <p:nvPr/>
        </p:nvGrpSpPr>
        <p:grpSpPr>
          <a:xfrm>
            <a:off x="497879" y="3429000"/>
            <a:ext cx="11256531" cy="3004462"/>
            <a:chOff x="497879" y="3429000"/>
            <a:chExt cx="11256531" cy="300446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24A61C5-B137-4A64-1E69-087ACE2A6AD9}"/>
                </a:ext>
              </a:extLst>
            </p:cNvPr>
            <p:cNvSpPr txBox="1"/>
            <p:nvPr/>
          </p:nvSpPr>
          <p:spPr>
            <a:xfrm>
              <a:off x="497879" y="4440821"/>
              <a:ext cx="15359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/>
                <a:t>Genomes</a:t>
              </a:r>
            </a:p>
          </p:txBody>
        </p:sp>
        <p:pic>
          <p:nvPicPr>
            <p:cNvPr id="2050" name="Picture 2" descr="The Nextflow logo">
              <a:extLst>
                <a:ext uri="{FF2B5EF4-FFF2-40B4-BE49-F238E27FC236}">
                  <a16:creationId xmlns:a16="http://schemas.microsoft.com/office/drawing/2014/main" id="{BF32752E-4DF7-55BA-7C95-2BEF888C44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8638" y="3429000"/>
              <a:ext cx="2847301" cy="4669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5E90DC0-64FE-A491-C3D3-CEEC2B39F69A}"/>
                </a:ext>
              </a:extLst>
            </p:cNvPr>
            <p:cNvSpPr txBox="1"/>
            <p:nvPr/>
          </p:nvSpPr>
          <p:spPr>
            <a:xfrm>
              <a:off x="3104232" y="4333099"/>
              <a:ext cx="132138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Process 1</a:t>
              </a:r>
              <a:br>
                <a:rPr lang="en-US" dirty="0"/>
              </a:br>
              <a:r>
                <a:rPr lang="en-US" dirty="0"/>
                <a:t>(call genes)</a:t>
              </a:r>
              <a:endParaRPr lang="en-US" b="1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BF4E29-430E-3474-0BF7-29D3AE6E8507}"/>
                </a:ext>
              </a:extLst>
            </p:cNvPr>
            <p:cNvSpPr txBox="1"/>
            <p:nvPr/>
          </p:nvSpPr>
          <p:spPr>
            <a:xfrm>
              <a:off x="5257959" y="4333099"/>
              <a:ext cx="142866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Process 2</a:t>
              </a:r>
            </a:p>
            <a:p>
              <a:pPr algn="ctr"/>
              <a:r>
                <a:rPr lang="en-US" dirty="0"/>
                <a:t>(db1 search)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B8AF6D-B888-647D-4106-DD7C91CB14D1}"/>
                </a:ext>
              </a:extLst>
            </p:cNvPr>
            <p:cNvSpPr txBox="1"/>
            <p:nvPr/>
          </p:nvSpPr>
          <p:spPr>
            <a:xfrm>
              <a:off x="7411686" y="4333099"/>
              <a:ext cx="177349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Process 3</a:t>
              </a:r>
              <a:br>
                <a:rPr lang="en-US" dirty="0"/>
              </a:br>
              <a:r>
                <a:rPr lang="en-US" dirty="0"/>
                <a:t>(run tRNA-scan)</a:t>
              </a:r>
              <a:endParaRPr lang="en-US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63C5C6-9A88-0E1F-A7BA-9B573FA7A7B0}"/>
                </a:ext>
              </a:extLst>
            </p:cNvPr>
            <p:cNvSpPr txBox="1"/>
            <p:nvPr/>
          </p:nvSpPr>
          <p:spPr>
            <a:xfrm>
              <a:off x="3169249" y="5477830"/>
              <a:ext cx="1191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HPC Job 1</a:t>
              </a:r>
              <a:endParaRPr lang="en-US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B25FE19-FD65-7917-F157-10594C892FCA}"/>
                </a:ext>
              </a:extLst>
            </p:cNvPr>
            <p:cNvSpPr txBox="1"/>
            <p:nvPr/>
          </p:nvSpPr>
          <p:spPr>
            <a:xfrm>
              <a:off x="5376613" y="5477829"/>
              <a:ext cx="1191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HPC Job 2</a:t>
              </a:r>
              <a:endParaRPr lang="en-US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F8B8099-4450-C266-8B3F-6C421C77DE75}"/>
                </a:ext>
              </a:extLst>
            </p:cNvPr>
            <p:cNvSpPr txBox="1"/>
            <p:nvPr/>
          </p:nvSpPr>
          <p:spPr>
            <a:xfrm>
              <a:off x="7702759" y="5519164"/>
              <a:ext cx="1191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HPC Job 2</a:t>
              </a:r>
              <a:endParaRPr lang="en-US" b="1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174BD75-DA16-8CC6-FC08-E886B7355D49}"/>
                </a:ext>
              </a:extLst>
            </p:cNvPr>
            <p:cNvCxnSpPr>
              <a:cxnSpLocks/>
            </p:cNvCxnSpPr>
            <p:nvPr/>
          </p:nvCxnSpPr>
          <p:spPr>
            <a:xfrm>
              <a:off x="4537379" y="4656264"/>
              <a:ext cx="5474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6F6C7B3-C9AF-34F7-AEB0-30800B3538B5}"/>
                </a:ext>
              </a:extLst>
            </p:cNvPr>
            <p:cNvCxnSpPr>
              <a:cxnSpLocks/>
            </p:cNvCxnSpPr>
            <p:nvPr/>
          </p:nvCxnSpPr>
          <p:spPr>
            <a:xfrm>
              <a:off x="6772579" y="4656264"/>
              <a:ext cx="5474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4A586ED-9FC2-C1C2-E734-56E086405B1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109734" y="5210220"/>
              <a:ext cx="377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E691D4E-301B-8F07-37F4-7BADFF2F7DB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83588" y="5210220"/>
              <a:ext cx="377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5C45D33-35EA-FF05-06E7-34F71EB1390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576224" y="5210220"/>
              <a:ext cx="377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C2B6A80-832B-171C-FA0D-14BA579072A1}"/>
                </a:ext>
              </a:extLst>
            </p:cNvPr>
            <p:cNvCxnSpPr>
              <a:cxnSpLocks/>
            </p:cNvCxnSpPr>
            <p:nvPr/>
          </p:nvCxnSpPr>
          <p:spPr>
            <a:xfrm>
              <a:off x="8298435" y="6202630"/>
              <a:ext cx="1501149" cy="0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2C03109-607C-F1D8-B1F4-3CE564CC8E5E}"/>
                </a:ext>
              </a:extLst>
            </p:cNvPr>
            <p:cNvCxnSpPr>
              <a:cxnSpLocks/>
            </p:cNvCxnSpPr>
            <p:nvPr/>
          </p:nvCxnSpPr>
          <p:spPr>
            <a:xfrm>
              <a:off x="2235745" y="4656264"/>
              <a:ext cx="547430" cy="0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D81F40D-8E29-DAD0-331F-37F5BBF0C97D}"/>
                </a:ext>
              </a:extLst>
            </p:cNvPr>
            <p:cNvCxnSpPr>
              <a:cxnSpLocks/>
            </p:cNvCxnSpPr>
            <p:nvPr/>
          </p:nvCxnSpPr>
          <p:spPr>
            <a:xfrm>
              <a:off x="3764925" y="5896261"/>
              <a:ext cx="0" cy="3063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3ECC57B-12F0-112F-CC9E-5D7182D9FDC8}"/>
                </a:ext>
              </a:extLst>
            </p:cNvPr>
            <p:cNvCxnSpPr>
              <a:cxnSpLocks/>
            </p:cNvCxnSpPr>
            <p:nvPr/>
          </p:nvCxnSpPr>
          <p:spPr>
            <a:xfrm>
              <a:off x="5972289" y="5896261"/>
              <a:ext cx="0" cy="3063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20D6974-1C9C-22E7-AEAA-9A992D9D212E}"/>
                </a:ext>
              </a:extLst>
            </p:cNvPr>
            <p:cNvCxnSpPr>
              <a:cxnSpLocks/>
            </p:cNvCxnSpPr>
            <p:nvPr/>
          </p:nvCxnSpPr>
          <p:spPr>
            <a:xfrm>
              <a:off x="8298435" y="5896261"/>
              <a:ext cx="0" cy="3063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F42D401-05EA-FA63-405A-E766F0B2F5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64925" y="6210451"/>
              <a:ext cx="453351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Left Brace 34">
              <a:extLst>
                <a:ext uri="{FF2B5EF4-FFF2-40B4-BE49-F238E27FC236}">
                  <a16:creationId xmlns:a16="http://schemas.microsoft.com/office/drawing/2014/main" id="{1DAD41C2-F754-D5EF-4AF1-F259C55F73EB}"/>
                </a:ext>
              </a:extLst>
            </p:cNvPr>
            <p:cNvSpPr/>
            <p:nvPr/>
          </p:nvSpPr>
          <p:spPr>
            <a:xfrm rot="5400000">
              <a:off x="5908607" y="1107302"/>
              <a:ext cx="377408" cy="5986160"/>
            </a:xfrm>
            <a:prstGeom prst="leftBrace">
              <a:avLst>
                <a:gd name="adj1" fmla="val 77217"/>
                <a:gd name="adj2" fmla="val 50676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5-Point Star 39">
              <a:extLst>
                <a:ext uri="{FF2B5EF4-FFF2-40B4-BE49-F238E27FC236}">
                  <a16:creationId xmlns:a16="http://schemas.microsoft.com/office/drawing/2014/main" id="{62573F79-0C15-4058-EE51-A899A289246B}"/>
                </a:ext>
              </a:extLst>
            </p:cNvPr>
            <p:cNvSpPr/>
            <p:nvPr/>
          </p:nvSpPr>
          <p:spPr>
            <a:xfrm>
              <a:off x="9910123" y="5888496"/>
              <a:ext cx="481563" cy="481563"/>
            </a:xfrm>
            <a:prstGeom prst="star5">
              <a:avLst>
                <a:gd name="adj" fmla="val 22334"/>
                <a:gd name="hf" fmla="val 105146"/>
                <a:gd name="vf" fmla="val 110557"/>
              </a:avLst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88A3DD6-EF34-9DCC-9E6B-A30F5427E638}"/>
                </a:ext>
              </a:extLst>
            </p:cNvPr>
            <p:cNvSpPr txBox="1"/>
            <p:nvPr/>
          </p:nvSpPr>
          <p:spPr>
            <a:xfrm>
              <a:off x="10505798" y="5971797"/>
              <a:ext cx="12486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/>
                <a:t>Results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6183745F-8353-80F5-FF05-DBA1A4FAB2EE}"/>
              </a:ext>
            </a:extLst>
          </p:cNvPr>
          <p:cNvSpPr txBox="1"/>
          <p:nvPr/>
        </p:nvSpPr>
        <p:spPr>
          <a:xfrm>
            <a:off x="289328" y="1156354"/>
            <a:ext cx="5600187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What does </a:t>
            </a:r>
            <a:r>
              <a:rPr lang="en-US" b="1" dirty="0" err="1"/>
              <a:t>Nextflow</a:t>
            </a:r>
            <a:r>
              <a:rPr lang="en-US" b="1" dirty="0"/>
              <a:t> do?</a:t>
            </a:r>
            <a:br>
              <a:rPr lang="en-US" dirty="0"/>
            </a:br>
            <a:endParaRPr lang="en-US" sz="10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Defines bioinformatics pipelines as steps (process)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10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Manages software dependencies for each step</a:t>
            </a:r>
            <a:br>
              <a:rPr lang="en-US" dirty="0"/>
            </a:br>
            <a:endParaRPr lang="en-US" sz="10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Executes pipeline on the HPC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6D551E-F7BD-1A90-D6EB-C80DE16D118C}"/>
              </a:ext>
            </a:extLst>
          </p:cNvPr>
          <p:cNvSpPr txBox="1"/>
          <p:nvPr/>
        </p:nvSpPr>
        <p:spPr>
          <a:xfrm>
            <a:off x="6145283" y="1150968"/>
            <a:ext cx="5975418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Advantages</a:t>
            </a:r>
            <a:br>
              <a:rPr lang="en-US" dirty="0"/>
            </a:br>
            <a:endParaRPr lang="en-US" sz="10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User only submits one job to the HPC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10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Parallelizes jobs, runs pipeline more efficiently</a:t>
            </a:r>
            <a:br>
              <a:rPr lang="en-US" dirty="0"/>
            </a:br>
            <a:endParaRPr lang="en-US" sz="10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Handles failures and allows resuming at ‘cached’ steps</a:t>
            </a:r>
          </a:p>
        </p:txBody>
      </p:sp>
    </p:spTree>
    <p:extLst>
      <p:ext uri="{BB962C8B-B14F-4D97-AF65-F5344CB8AC3E}">
        <p14:creationId xmlns:p14="http://schemas.microsoft.com/office/powerpoint/2010/main" val="36750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89A66-C4BB-9482-E8E4-C5388F7B8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D28975-3452-F059-9648-3DDFD188E993}"/>
              </a:ext>
            </a:extLst>
          </p:cNvPr>
          <p:cNvSpPr txBox="1"/>
          <p:nvPr/>
        </p:nvSpPr>
        <p:spPr>
          <a:xfrm>
            <a:off x="497879" y="227724"/>
            <a:ext cx="64367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How to access DRAM2 on </a:t>
            </a:r>
            <a:r>
              <a:rPr lang="en-US" sz="3200" dirty="0" err="1">
                <a:latin typeface="+mj-lt"/>
              </a:rPr>
              <a:t>RoarCollab</a:t>
            </a:r>
            <a:endParaRPr lang="en-US" sz="32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1020EB-ADA4-BC26-467E-A66C072B1CAF}"/>
              </a:ext>
            </a:extLst>
          </p:cNvPr>
          <p:cNvSpPr txBox="1"/>
          <p:nvPr/>
        </p:nvSpPr>
        <p:spPr>
          <a:xfrm>
            <a:off x="4469722" y="2245043"/>
            <a:ext cx="325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Let’s go to the command line!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C1B251-BF3B-5181-2694-AC5DA108A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646" y="3360656"/>
            <a:ext cx="43815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3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E3A49-A1A6-B1D5-EE33-426BFB933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D53846-A2F5-FC26-0F80-226E50A7EA55}"/>
              </a:ext>
            </a:extLst>
          </p:cNvPr>
          <p:cNvSpPr txBox="1"/>
          <p:nvPr/>
        </p:nvSpPr>
        <p:spPr>
          <a:xfrm>
            <a:off x="497879" y="227724"/>
            <a:ext cx="73456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How to submit a DRAM2 job on Roar Collab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38FB54-21EA-955C-AB6A-660A05B99C03}"/>
              </a:ext>
            </a:extLst>
          </p:cNvPr>
          <p:cNvSpPr txBox="1"/>
          <p:nvPr/>
        </p:nvSpPr>
        <p:spPr>
          <a:xfrm>
            <a:off x="3483811" y="1930572"/>
            <a:ext cx="5224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Command line submission of a DRAM2 job on RC</a:t>
            </a:r>
          </a:p>
        </p:txBody>
      </p:sp>
      <p:pic>
        <p:nvPicPr>
          <p:cNvPr id="2050" name="Picture 2" descr="Computing: News, features and articles ...">
            <a:extLst>
              <a:ext uri="{FF2B5EF4-FFF2-40B4-BE49-F238E27FC236}">
                <a16:creationId xmlns:a16="http://schemas.microsoft.com/office/drawing/2014/main" id="{4DB14632-4F5D-D53D-E24A-3ABD5B4DF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082217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4833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96D72-3302-487A-4857-1C50FDFEB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624FD0-4002-246B-D97B-2614452F221B}"/>
              </a:ext>
            </a:extLst>
          </p:cNvPr>
          <p:cNvSpPr txBox="1"/>
          <p:nvPr/>
        </p:nvSpPr>
        <p:spPr>
          <a:xfrm>
            <a:off x="497879" y="227724"/>
            <a:ext cx="8387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What happens when you submit a DRAM2 job?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DE8A1F-E3EB-9280-1E88-1670F6F3201C}"/>
              </a:ext>
            </a:extLst>
          </p:cNvPr>
          <p:cNvSpPr txBox="1"/>
          <p:nvPr/>
        </p:nvSpPr>
        <p:spPr>
          <a:xfrm>
            <a:off x="3367913" y="2378239"/>
            <a:ext cx="5456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Let’s see what’s happening when DRAM2 is running</a:t>
            </a:r>
          </a:p>
        </p:txBody>
      </p:sp>
      <p:pic>
        <p:nvPicPr>
          <p:cNvPr id="1028" name="Picture 4" descr="Multi Color Rainbow Wheel Spinning Fast ...">
            <a:extLst>
              <a:ext uri="{FF2B5EF4-FFF2-40B4-BE49-F238E27FC236}">
                <a16:creationId xmlns:a16="http://schemas.microsoft.com/office/drawing/2014/main" id="{B35DD9B7-EEA4-1152-BBFB-3394B2093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496518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77C3AD-9FD4-B7FB-92AD-0B430C6BD31E}"/>
              </a:ext>
            </a:extLst>
          </p:cNvPr>
          <p:cNvSpPr txBox="1"/>
          <p:nvPr/>
        </p:nvSpPr>
        <p:spPr>
          <a:xfrm>
            <a:off x="5871419" y="5445452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997714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E8748-2BD5-D201-555C-95C308974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E20B62-21D1-422B-2421-2B186782F4F0}"/>
              </a:ext>
            </a:extLst>
          </p:cNvPr>
          <p:cNvSpPr txBox="1"/>
          <p:nvPr/>
        </p:nvSpPr>
        <p:spPr>
          <a:xfrm>
            <a:off x="497879" y="227724"/>
            <a:ext cx="7405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Using DRAM(1) for </a:t>
            </a:r>
            <a:r>
              <a:rPr lang="en-US" sz="3200" dirty="0" err="1">
                <a:latin typeface="+mj-lt"/>
              </a:rPr>
              <a:t>metatranscriptomic</a:t>
            </a:r>
            <a:r>
              <a:rPr lang="en-US" sz="3200" dirty="0">
                <a:latin typeface="+mj-lt"/>
              </a:rPr>
              <a:t>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136F8B-3FD5-C395-4496-46B5CB4CA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791" y="876843"/>
            <a:ext cx="5218230" cy="57534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A439FF-503F-28D8-C976-299B221967FB}"/>
              </a:ext>
            </a:extLst>
          </p:cNvPr>
          <p:cNvSpPr txBox="1"/>
          <p:nvPr/>
        </p:nvSpPr>
        <p:spPr>
          <a:xfrm>
            <a:off x="656393" y="3010306"/>
            <a:ext cx="53216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1.) Map </a:t>
            </a:r>
            <a:r>
              <a:rPr lang="en-US" dirty="0" err="1"/>
              <a:t>metaT</a:t>
            </a:r>
            <a:r>
              <a:rPr lang="en-US" dirty="0"/>
              <a:t> reads to MAGs</a:t>
            </a:r>
            <a:br>
              <a:rPr lang="en-US" dirty="0"/>
            </a:br>
            <a:br>
              <a:rPr lang="en-US" sz="1000" dirty="0"/>
            </a:br>
            <a:r>
              <a:rPr lang="en-US" dirty="0"/>
              <a:t>2.) Extract mapping data for reads that mapped to genes annotated by DRAM</a:t>
            </a:r>
            <a:br>
              <a:rPr lang="en-US" dirty="0"/>
            </a:br>
            <a:endParaRPr lang="en-US" sz="1000" dirty="0"/>
          </a:p>
          <a:p>
            <a:r>
              <a:rPr lang="en-US" dirty="0"/>
              <a:t>3.) Merge mapping data and DRAM annotations in R</a:t>
            </a:r>
            <a:br>
              <a:rPr lang="en-US" dirty="0"/>
            </a:br>
            <a:endParaRPr lang="en-US" sz="1000" dirty="0"/>
          </a:p>
          <a:p>
            <a:r>
              <a:rPr lang="en-US" dirty="0"/>
              <a:t>4). Downstream analysis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7D0A0C-33E0-6788-39F4-17BE20BFE162}"/>
              </a:ext>
            </a:extLst>
          </p:cNvPr>
          <p:cNvSpPr txBox="1"/>
          <p:nvPr/>
        </p:nvSpPr>
        <p:spPr>
          <a:xfrm>
            <a:off x="1095229" y="988072"/>
            <a:ext cx="5090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Direct integration of </a:t>
            </a:r>
            <a:r>
              <a:rPr lang="en-US" dirty="0" err="1"/>
              <a:t>metaT</a:t>
            </a:r>
            <a:r>
              <a:rPr lang="en-US" dirty="0"/>
              <a:t> data is not currently available with our DRAM2 beta install. The full DRAM2 release will integrate this functionality!</a:t>
            </a:r>
          </a:p>
        </p:txBody>
      </p:sp>
    </p:spTree>
    <p:extLst>
      <p:ext uri="{BB962C8B-B14F-4D97-AF65-F5344CB8AC3E}">
        <p14:creationId xmlns:p14="http://schemas.microsoft.com/office/powerpoint/2010/main" val="1465955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B8DE6-0827-3E40-24CF-C9F1B282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3E24A2-2222-7EE2-2612-D5FCEABD4125}"/>
              </a:ext>
            </a:extLst>
          </p:cNvPr>
          <p:cNvSpPr txBox="1"/>
          <p:nvPr/>
        </p:nvSpPr>
        <p:spPr>
          <a:xfrm>
            <a:off x="497879" y="227724"/>
            <a:ext cx="85517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Targeted analysis of metabolic functions of interest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F7ADE0-134F-F681-3A7E-C2F11EDF3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012" y="1234287"/>
            <a:ext cx="8204266" cy="560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650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01BF-A2FE-BC98-B1AC-A5E3362E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48C288-1D8D-8483-8111-DB56EB2E9F03}"/>
              </a:ext>
            </a:extLst>
          </p:cNvPr>
          <p:cNvSpPr txBox="1"/>
          <p:nvPr/>
        </p:nvSpPr>
        <p:spPr>
          <a:xfrm>
            <a:off x="1742565" y="227724"/>
            <a:ext cx="870687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DRAM2 is brand new to Roar Collab and the OHMC!</a:t>
            </a:r>
            <a:br>
              <a:rPr lang="en-US" sz="3200" dirty="0">
                <a:latin typeface="+mj-lt"/>
              </a:rPr>
            </a:br>
            <a:br>
              <a:rPr lang="en-US" sz="3200" dirty="0">
                <a:latin typeface="+mj-lt"/>
              </a:rPr>
            </a:br>
            <a:r>
              <a:rPr lang="en-US" sz="3200" dirty="0">
                <a:latin typeface="+mj-lt"/>
              </a:rPr>
              <a:t>Help me test 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CBD088-FA38-1E10-B9D5-A36A6AF68E15}"/>
              </a:ext>
            </a:extLst>
          </p:cNvPr>
          <p:cNvSpPr txBox="1"/>
          <p:nvPr/>
        </p:nvSpPr>
        <p:spPr>
          <a:xfrm>
            <a:off x="4700944" y="2387992"/>
            <a:ext cx="2542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Email: Rxt92@psu.edu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144D8-5818-5AF3-3BEE-63B7DFFCF20A}"/>
              </a:ext>
            </a:extLst>
          </p:cNvPr>
          <p:cNvSpPr txBox="1"/>
          <p:nvPr/>
        </p:nvSpPr>
        <p:spPr>
          <a:xfrm>
            <a:off x="3108391" y="3264307"/>
            <a:ext cx="5727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Let’s put together a RC OHMC DRAM2 </a:t>
            </a:r>
            <a:r>
              <a:rPr lang="en-US" dirty="0" err="1"/>
              <a:t>github</a:t>
            </a:r>
            <a:r>
              <a:rPr lang="en-US" dirty="0"/>
              <a:t> repository: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35F6B8-E29F-668E-3EE0-FB458634EC2B}"/>
              </a:ext>
            </a:extLst>
          </p:cNvPr>
          <p:cNvSpPr txBox="1"/>
          <p:nvPr/>
        </p:nvSpPr>
        <p:spPr>
          <a:xfrm>
            <a:off x="3048965" y="383639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RVTrexler</a:t>
            </a:r>
            <a:r>
              <a:rPr lang="en-US" dirty="0"/>
              <a:t>/RoarCollab-OHMC-DRAM2.git</a:t>
            </a:r>
          </a:p>
        </p:txBody>
      </p:sp>
      <p:pic>
        <p:nvPicPr>
          <p:cNvPr id="8" name="Picture 7" descr="A black and white square with white text&#10;&#10;AI-generated content may be incorrect.">
            <a:extLst>
              <a:ext uri="{FF2B5EF4-FFF2-40B4-BE49-F238E27FC236}">
                <a16:creationId xmlns:a16="http://schemas.microsoft.com/office/drawing/2014/main" id="{74B598DA-7023-E8FC-9F86-F2A0D0342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5280" y="5563012"/>
            <a:ext cx="2950989" cy="8968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4F05E6-936A-B491-183A-CA34F550DC8F}"/>
              </a:ext>
            </a:extLst>
          </p:cNvPr>
          <p:cNvSpPr txBox="1"/>
          <p:nvPr/>
        </p:nvSpPr>
        <p:spPr>
          <a:xfrm>
            <a:off x="8515989" y="6459836"/>
            <a:ext cx="35895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cs typeface="Arial" panose="020B0604020202020204" pitchFamily="34" charset="0"/>
              </a:rPr>
              <a:t>Interdisciplinary Innovation Fellowship</a:t>
            </a:r>
          </a:p>
        </p:txBody>
      </p:sp>
    </p:spTree>
    <p:extLst>
      <p:ext uri="{BB962C8B-B14F-4D97-AF65-F5344CB8AC3E}">
        <p14:creationId xmlns:p14="http://schemas.microsoft.com/office/powerpoint/2010/main" val="3457742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1002</Words>
  <Application>Microsoft Macintosh PowerPoint</Application>
  <PresentationFormat>Widescreen</PresentationFormat>
  <Paragraphs>177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Trexler, Ryan</dc:creator>
  <cp:lastModifiedBy>Trexler, Ryan</cp:lastModifiedBy>
  <cp:revision>3</cp:revision>
  <dcterms:created xsi:type="dcterms:W3CDTF">2026-04-02T18:45:10Z</dcterms:created>
  <dcterms:modified xsi:type="dcterms:W3CDTF">2026-04-03T16:35:17Z</dcterms:modified>
</cp:coreProperties>
</file>